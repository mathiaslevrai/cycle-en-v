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" charset="1" panose="020F05020202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Bold" charset="1" panose="020F0702030404030204"/>
      <p:regular r:id="rId25"/>
    </p:embeddedFont>
    <p:embeddedFont>
      <p:font typeface="Calibri (MS) Italics" charset="1" panose="020F05020202040A0204"/>
      <p:regular r:id="rId28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méthodologie a été validée par la direction. On voit d'abord ce qu'on construit, puis comment on s'organise.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périmètre exclu doit être confirmé avec le client en phase 2.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Ces six exigences sont la référence de tout le projet : chacune sera vérifiée une par une en phase 8.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 diagramme traduit EF-01 à EF-06 en interactions. Il est produit en phase 4, Conception détaillée.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Décision d'architecture prise en phase 3 et justifiée par le cahier des charges.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Chaque étape descendante est vérifiée par l'étape qui lui fait face. La Réalisation est au point bas du V.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Fil rouge de la présentation. Les diapositives suivantes regroupent les phases par branche.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Livrable : firmware flashé, plateforme installée et configurée.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 points de vigilance sont à lever tôt : ils peuvent impacter le budget ou le planning.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Terminer par l'action concrète : qui fait quoi cette semaine.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3223260"/>
            <a:ext cx="15773400" cy="480060"/>
            <a:chOff x="0" y="0"/>
            <a:chExt cx="21031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312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375">
                  <a:solidFill>
                    <a:srgbClr val="AEBB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 GARAGE CONNECTÉ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261863"/>
            <a:ext cx="15773400" cy="4617411"/>
            <a:chOff x="0" y="0"/>
            <a:chExt cx="21031200" cy="61565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6156548"/>
            </a:xfrm>
            <a:custGeom>
              <a:avLst/>
              <a:gdLst/>
              <a:ahLst/>
              <a:cxnLst/>
              <a:rect r="r" b="b" t="t" l="l"/>
              <a:pathLst>
                <a:path h="615654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156548"/>
                  </a:lnTo>
                  <a:lnTo>
                    <a:pt x="0" y="6156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09" r="0" b="185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6175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Mise en oeuvre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5417820"/>
            <a:ext cx="14950440" cy="822960"/>
            <a:chOff x="0" y="0"/>
            <a:chExt cx="1993392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33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978" r="0" b="-3039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9339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CDD6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que nous construisons, et comment nous allons travailler avec le Cycle en V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PÉRIMÈTRE DU PROJET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Ce que nous construisons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68880"/>
            <a:ext cx="15773400" cy="685800"/>
            <a:chOff x="0" y="0"/>
            <a:chExt cx="210312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1031200" cy="1019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Concevoir et déployer un garage connecté : ouverture et fermeture automatiques de la porte, éclairage automatique sur détection de présence. On vise la fiabilité et la simplicité d'usage.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488055"/>
            <a:ext cx="8102064" cy="4121860"/>
            <a:chOff x="0" y="0"/>
            <a:chExt cx="11912600" cy="6060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1260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1912600">
                  <a:moveTo>
                    <a:pt x="0" y="0"/>
                  </a:moveTo>
                  <a:lnTo>
                    <a:pt x="11912600" y="0"/>
                  </a:lnTo>
                  <a:lnTo>
                    <a:pt x="1191260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714500" y="3813048"/>
            <a:ext cx="7955280" cy="576072"/>
            <a:chOff x="0" y="0"/>
            <a:chExt cx="1060704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079" r="0" b="-2190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6070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Inclus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14500" y="4441698"/>
            <a:ext cx="802386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Commande de la motorisation de porte (ouvrir, fermer, stop)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Détection de présence et pilotage de l'éclairage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Supervision et commande via Home Assistant (app mobile et dashboard)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Notifications : porte ouverte trop longtemps, obstacle, tentative anormale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Historique d'événements natif Home Assistant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031855" y="3488055"/>
            <a:ext cx="5427865" cy="4121860"/>
            <a:chOff x="0" y="0"/>
            <a:chExt cx="7980680" cy="6060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0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7980680">
                  <a:moveTo>
                    <a:pt x="0" y="0"/>
                  </a:moveTo>
                  <a:lnTo>
                    <a:pt x="7980680" y="0"/>
                  </a:lnTo>
                  <a:lnTo>
                    <a:pt x="7980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521960" y="3222031"/>
            <a:ext cx="4937760" cy="1758107"/>
            <a:chOff x="0" y="0"/>
            <a:chExt cx="6583680" cy="23441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2344142"/>
            </a:xfrm>
            <a:custGeom>
              <a:avLst/>
              <a:gdLst/>
              <a:ahLst/>
              <a:cxnLst/>
              <a:rect r="r" b="b" t="t" l="l"/>
              <a:pathLst>
                <a:path h="234414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41" r="0" b="288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Exclu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21440" y="4441698"/>
            <a:ext cx="507492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Vidéosurveillance et flux caméra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Reconnaissance de plaque ou de visage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 multi-sites (plusieurs garages)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CAHIER DES CHARGES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exigences à satisfaire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537460"/>
          <a:ext cx="15754350" cy="4400550"/>
        </p:xfrm>
        <a:graphic>
          <a:graphicData uri="http://schemas.openxmlformats.org/drawingml/2006/table">
            <a:tbl>
              <a:tblPr/>
              <a:tblGrid>
                <a:gridCol w="1329864"/>
                <a:gridCol w="3710017"/>
                <a:gridCol w="10714469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Réf.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Exigence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Contenu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Ouverture automatique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Déclenchement selon un scénario configurable : proximité, badge, app, télécommande. Automatisme désactivable.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Fermeture automatique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Fermeture après temporisation ou sur action utilisateur. Détection d'obstacle : arrêt et alerte.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Éclairage sur présence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Allumage dès détection, extinction après temporisation sans mouvement, mode forcé via l'app.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Supervision et états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État de la porte, de la lumière et des défauts. Historique horodaté consultable.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Notifications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Porte ouverte au-delà du seuil, tentatives anormales, erreurs répétées, détection d'obstacle.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EF-06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Gestion des accès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Compte unique géré nativement par Home Assistant, sans partage ni rôles multiples.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DIAGRAMME UML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cas d'utilisation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37460" y="2743200"/>
            <a:ext cx="13167360" cy="4745736"/>
            <a:chOff x="0" y="0"/>
            <a:chExt cx="17556480" cy="6327648"/>
          </a:xfrm>
        </p:grpSpPr>
        <p:sp>
          <p:nvSpPr>
            <p:cNvPr name="Freeform 9" id="9" descr="uml_cas.png"/>
            <p:cNvSpPr/>
            <p:nvPr/>
          </p:nvSpPr>
          <p:spPr>
            <a:xfrm flipH="false" flipV="false" rot="0">
              <a:off x="0" y="0"/>
              <a:ext cx="17556480" cy="6327648"/>
            </a:xfrm>
            <a:custGeom>
              <a:avLst/>
              <a:gdLst/>
              <a:ahLst/>
              <a:cxnLst/>
              <a:rect r="r" b="b" t="t" l="l"/>
              <a:pathLst>
                <a:path h="6327648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327648"/>
                  </a:lnTo>
                  <a:lnTo>
                    <a:pt x="0" y="6327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" r="0" b="-6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7877175"/>
            <a:ext cx="15792450" cy="1047750"/>
            <a:chOff x="0" y="0"/>
            <a:chExt cx="210566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6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056600">
                  <a:moveTo>
                    <a:pt x="0" y="0"/>
                  </a:moveTo>
                  <a:lnTo>
                    <a:pt x="21056600" y="0"/>
                  </a:lnTo>
                  <a:lnTo>
                    <a:pt x="21056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7886700"/>
            <a:ext cx="14950440" cy="1028700"/>
            <a:chOff x="0" y="0"/>
            <a:chExt cx="1993392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93392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seul acteur, le propriétaire du garage. La détection d'obstacle et l'envoi de notifications sont inclus dans l'ouverture et la fermeture : ils se déclenchent automatiquement, sans action de sa part.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QUE NOUS INSTALLONS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L'architecture en trois éléments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2665095"/>
            <a:ext cx="4956810" cy="4271010"/>
            <a:chOff x="0" y="0"/>
            <a:chExt cx="6609080" cy="5694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3044952"/>
            <a:ext cx="4114800" cy="685800"/>
            <a:chOff x="0" y="0"/>
            <a:chExt cx="5486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Contrôleur ESP32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3881628"/>
            <a:ext cx="4114800" cy="438912"/>
            <a:chOff x="0" y="0"/>
            <a:chExt cx="548640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Dans le garage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" y="4606290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Câblé à la motorisation et aux capteurs. Il exécute les commandes physiques et remonte l'état de la porte.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29019" y="2665095"/>
            <a:ext cx="4956810" cy="4271010"/>
            <a:chOff x="0" y="0"/>
            <a:chExt cx="6609080" cy="5694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050024" y="2390504"/>
            <a:ext cx="4114800" cy="1994697"/>
            <a:chOff x="0" y="0"/>
            <a:chExt cx="5486400" cy="26595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2659596"/>
            </a:xfrm>
            <a:custGeom>
              <a:avLst/>
              <a:gdLst/>
              <a:ahLst/>
              <a:cxnLst/>
              <a:rect r="r" b="b" t="t" l="l"/>
              <a:pathLst>
                <a:path h="26595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659596"/>
                  </a:lnTo>
                  <a:lnTo>
                    <a:pt x="0" y="2659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4" r="0" b="426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86400" cy="2678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Plateforme Home Assistant(Raspberry)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50024" y="3881628"/>
            <a:ext cx="4114800" cy="438912"/>
            <a:chOff x="0" y="0"/>
            <a:chExt cx="548640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Dans la maison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086600" y="4606290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Centralise la supervision, l'historique et les automatisations. Fournit l'application mobile sans développement.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33123" y="2665095"/>
            <a:ext cx="4956810" cy="4271010"/>
            <a:chOff x="0" y="0"/>
            <a:chExt cx="6609080" cy="5694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9080" cy="5694680"/>
            </a:xfrm>
            <a:custGeom>
              <a:avLst/>
              <a:gdLst/>
              <a:ahLst/>
              <a:cxnLst/>
              <a:rect r="r" b="b" t="t" l="l"/>
              <a:pathLst>
                <a:path h="56946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5694680"/>
                  </a:lnTo>
                  <a:lnTo>
                    <a:pt x="0" y="569468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4128" y="3044952"/>
            <a:ext cx="4114800" cy="685800"/>
            <a:chOff x="0" y="0"/>
            <a:chExt cx="5486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486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Réseau local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54128" y="3881628"/>
            <a:ext cx="4114800" cy="438912"/>
            <a:chOff x="0" y="0"/>
            <a:chExt cx="548640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585216"/>
            </a:xfrm>
            <a:custGeom>
              <a:avLst/>
              <a:gdLst/>
              <a:ahLst/>
              <a:cxnLst/>
              <a:rect r="r" b="b" t="t" l="l"/>
              <a:pathLst>
                <a:path h="5852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486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44546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Entre les deux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454128" y="4606290"/>
            <a:ext cx="4114800" cy="232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Relie le contrôleur à la plateforme. Tout transite en local, sans dépendance à un service externe.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4915" y="7328535"/>
            <a:ext cx="15792450" cy="1184910"/>
            <a:chOff x="0" y="0"/>
            <a:chExt cx="21056600" cy="1579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56600" cy="1579880"/>
            </a:xfrm>
            <a:custGeom>
              <a:avLst/>
              <a:gdLst/>
              <a:ahLst/>
              <a:cxnLst/>
              <a:rect r="r" b="b" t="t" l="l"/>
              <a:pathLst>
                <a:path h="1579880" w="21056600">
                  <a:moveTo>
                    <a:pt x="0" y="0"/>
                  </a:moveTo>
                  <a:lnTo>
                    <a:pt x="21056600" y="0"/>
                  </a:lnTo>
                  <a:lnTo>
                    <a:pt x="2105660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45920" y="7338060"/>
            <a:ext cx="14950440" cy="1165860"/>
            <a:chOff x="0" y="0"/>
            <a:chExt cx="199339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93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66" r="0" b="-1998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99339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S'appuyer sur une plateforme éprouvée plutôt que développer sur mesure réduit fortement le volume de code à produire, tester et maintenir. L'effort se concentre sur le firmware et l'installation physique.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NOTRE ORGANISATION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Cycle en V appliqué au projet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380" y="2400300"/>
            <a:ext cx="16733520" cy="7228332"/>
            <a:chOff x="0" y="0"/>
            <a:chExt cx="22311360" cy="9637776"/>
          </a:xfrm>
        </p:grpSpPr>
        <p:sp>
          <p:nvSpPr>
            <p:cNvPr name="Freeform 9" id="9" descr="cycle_v.png"/>
            <p:cNvSpPr/>
            <p:nvPr/>
          </p:nvSpPr>
          <p:spPr>
            <a:xfrm flipH="false" flipV="false" rot="0">
              <a:off x="0" y="0"/>
              <a:ext cx="22311361" cy="9637776"/>
            </a:xfrm>
            <a:custGeom>
              <a:avLst/>
              <a:gdLst/>
              <a:ahLst/>
              <a:cxnLst/>
              <a:rect r="r" b="b" t="t" l="l"/>
              <a:pathLst>
                <a:path h="9637776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9637776"/>
                  </a:lnTo>
                  <a:lnTo>
                    <a:pt x="0" y="9637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VUE D'ENSEMBLE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neuf phases et leurs livrables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34440" y="2674620"/>
          <a:ext cx="15735300" cy="5715000"/>
        </p:xfrm>
        <a:graphic>
          <a:graphicData uri="http://schemas.openxmlformats.org/drawingml/2006/table">
            <a:tbl>
              <a:tblPr/>
              <a:tblGrid>
                <a:gridCol w="783001"/>
                <a:gridCol w="4645301"/>
                <a:gridCol w="7287928"/>
                <a:gridCol w="3019070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Phase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Livrable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Vérifiée par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Définition des besoins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Compte-rendu et note de cadrage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Recette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Spécification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Cahier des charges et critères d'acceptation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générale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Schéma d'architecture et choix techniques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détaillée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Configuration, machines à états, automatisations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Réalisation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Firmware flashé, plateforme configurée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Phases 6 à 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Rapport de tests unitaires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Conception détaillée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Rapport de tests d'intégration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1F3864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Conception générale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Matrice de traçabilité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Spécification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44546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F386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Recette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26262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plan de maintenance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7A859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Définition des besoins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234440" y="9436608"/>
            <a:ext cx="15773400" cy="411480"/>
            <a:chOff x="0" y="0"/>
            <a:chExt cx="210312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Chaque phase produit un livrable vérifiable : c'est la condition pour passer à la suivante.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BRANCHE DESCENDANTE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Du besoin à la conception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Phases 1 à 4 : on décide et on documente avant de construire.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145155"/>
            <a:ext cx="3736086" cy="5574030"/>
            <a:chOff x="0" y="0"/>
            <a:chExt cx="4981448" cy="74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3429000"/>
            <a:ext cx="3031236" cy="384048"/>
            <a:chOff x="0" y="0"/>
            <a:chExt cx="4041648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7340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Définition des besoins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340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Entretien de cadrage avec le client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Étude de faisabilité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Périmètre inclus et exclu</a:t>
            </a:r>
          </a:p>
        </p:txBody>
      </p:sp>
      <p:sp>
        <p:nvSpPr>
          <p:cNvPr name="AutoShape 18" id="18"/>
          <p:cNvSpPr/>
          <p:nvPr/>
        </p:nvSpPr>
        <p:spPr>
          <a:xfrm rot="21480">
            <a:off x="1567786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77340" y="7392924"/>
            <a:ext cx="3031236" cy="342900"/>
            <a:chOff x="0" y="0"/>
            <a:chExt cx="40416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77340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Compte-rendu et note de cadrage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43703" y="3145155"/>
            <a:ext cx="3736086" cy="5574030"/>
            <a:chOff x="0" y="0"/>
            <a:chExt cx="4981448" cy="7432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96128" y="3429000"/>
            <a:ext cx="3031236" cy="384048"/>
            <a:chOff x="0" y="0"/>
            <a:chExt cx="4041648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596128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Spécification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6128" y="4762500"/>
            <a:ext cx="3031236" cy="7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Exigences non fonctionnelles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Critères d'acceptation</a:t>
            </a:r>
          </a:p>
        </p:txBody>
      </p:sp>
      <p:sp>
        <p:nvSpPr>
          <p:cNvPr name="AutoShape 30" id="30"/>
          <p:cNvSpPr/>
          <p:nvPr/>
        </p:nvSpPr>
        <p:spPr>
          <a:xfrm rot="21480">
            <a:off x="5586574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596128" y="7392924"/>
            <a:ext cx="3031236" cy="342900"/>
            <a:chOff x="0" y="0"/>
            <a:chExt cx="4041648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96128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 et critères d'acceptation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62491" y="3145155"/>
            <a:ext cx="3736086" cy="5574030"/>
            <a:chOff x="0" y="0"/>
            <a:chExt cx="4981448" cy="7432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14916" y="3429000"/>
            <a:ext cx="3031236" cy="384048"/>
            <a:chOff x="0" y="0"/>
            <a:chExt cx="4041648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14916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Conception générale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14916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Cahier des charges technique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Découpage en blocs fonctionnels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Choix de la stack, justifiés</a:t>
            </a:r>
          </a:p>
        </p:txBody>
      </p:sp>
      <p:sp>
        <p:nvSpPr>
          <p:cNvPr name="AutoShape 42" id="42"/>
          <p:cNvSpPr/>
          <p:nvPr/>
        </p:nvSpPr>
        <p:spPr>
          <a:xfrm rot="21480">
            <a:off x="9605362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9614916" y="7392924"/>
            <a:ext cx="3031236" cy="342900"/>
            <a:chOff x="0" y="0"/>
            <a:chExt cx="4041648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14916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Schéma d'architecture et choix techniques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281279" y="3145155"/>
            <a:ext cx="3736086" cy="5574030"/>
            <a:chOff x="0" y="0"/>
            <a:chExt cx="4981448" cy="7432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33704" y="3429000"/>
            <a:ext cx="3031236" cy="384048"/>
            <a:chOff x="0" y="0"/>
            <a:chExt cx="4041648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633704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Conception détaillée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633704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Machines à états porte et éclairage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Cas d'utilisation et câblage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Plan des automatisations</a:t>
            </a:r>
          </a:p>
        </p:txBody>
      </p:sp>
      <p:sp>
        <p:nvSpPr>
          <p:cNvPr name="AutoShape 54" id="54"/>
          <p:cNvSpPr/>
          <p:nvPr/>
        </p:nvSpPr>
        <p:spPr>
          <a:xfrm rot="21480">
            <a:off x="13624150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3633704" y="7392924"/>
            <a:ext cx="3031236" cy="342900"/>
            <a:chOff x="0" y="0"/>
            <a:chExt cx="4041648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633704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Configuration et plan des automatisations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34440" y="9436608"/>
            <a:ext cx="15773400" cy="411480"/>
            <a:chOff x="0" y="0"/>
            <a:chExt cx="210312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Rien n'est construit tant que ces quatre livrables ne sont pas produits et validés.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5 - LE POINT BAS DU V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 Réalisation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 construit ce qui a été décidé, sans ambiguïté sur ce qu'il faut faire.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5390" y="3145155"/>
            <a:ext cx="7700010" cy="4545330"/>
            <a:chOff x="0" y="0"/>
            <a:chExt cx="10266680" cy="6060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3497580"/>
            <a:ext cx="6858000" cy="576072"/>
            <a:chOff x="0" y="0"/>
            <a:chExt cx="914400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 atelier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" y="4126230"/>
            <a:ext cx="6858000" cy="150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Rédiger la configuration ESPHome du contrôleur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Compiler et flasher le firmware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Installer Home Assistant sur le Raspberry Pi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Créer le compte utilisateur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Tester à vide la découverte automatique des équipements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48775" y="3145155"/>
            <a:ext cx="7700010" cy="4545330"/>
            <a:chOff x="0" y="0"/>
            <a:chExt cx="10266680" cy="6060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66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6060440"/>
                  </a:lnTo>
                  <a:lnTo>
                    <a:pt x="0" y="60604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3497580"/>
            <a:ext cx="6858000" cy="576072"/>
            <a:chOff x="0" y="0"/>
            <a:chExt cx="914400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768096"/>
            </a:xfrm>
            <a:custGeom>
              <a:avLst/>
              <a:gdLst/>
              <a:ahLst/>
              <a:cxnLst/>
              <a:rect r="r" b="b" t="t" l="l"/>
              <a:pathLst>
                <a:path h="76809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14400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Sur site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69780" y="4126230"/>
            <a:ext cx="6858000" cy="150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Câbler la motorisation et les capteurs de fin de course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Poser le capteur d'obstacle et le détecteur de présence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Raccorder le contrôleur au réseau du client</a:t>
            </a:r>
          </a:p>
          <a:p>
            <a:pPr algn="l" marL="325755" indent="-162878" lvl="1">
              <a:lnSpc>
                <a:spcPts val="2399"/>
              </a:lnSpc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Configurer les automatisations et le tableau de bord</a:t>
            </a:r>
          </a:p>
          <a:p>
            <a:pPr algn="l">
              <a:lnSpc>
                <a:spcPts val="23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BRANCHE MONTANTE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la vérification à la recette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7A859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Phases 6 à 9 : chaque test a une cible définie à l'avance par la conception qui lui fait face.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3145155"/>
            <a:ext cx="3736086" cy="5574030"/>
            <a:chOff x="0" y="0"/>
            <a:chExt cx="4981448" cy="7432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3429000"/>
            <a:ext cx="3031236" cy="384048"/>
            <a:chOff x="0" y="0"/>
            <a:chExt cx="4041648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77340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Tests unitaires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7340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Transitions d'états de la porte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Arrêt sur obstacle et reprise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Temporisations de l'éclairage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Seuils de notification</a:t>
            </a:r>
          </a:p>
        </p:txBody>
      </p:sp>
      <p:sp>
        <p:nvSpPr>
          <p:cNvPr name="AutoShape 18" id="18"/>
          <p:cNvSpPr/>
          <p:nvPr/>
        </p:nvSpPr>
        <p:spPr>
          <a:xfrm rot="21480">
            <a:off x="1567786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577340" y="7392924"/>
            <a:ext cx="3031236" cy="342900"/>
            <a:chOff x="0" y="0"/>
            <a:chExt cx="40416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77340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Rapport de tests unitaires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43703" y="3145155"/>
            <a:ext cx="3736086" cy="5574030"/>
            <a:chOff x="0" y="0"/>
            <a:chExt cx="4981448" cy="7432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96128" y="3429000"/>
            <a:ext cx="3031236" cy="384048"/>
            <a:chOff x="0" y="0"/>
            <a:chExt cx="4041648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7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596128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Tests d'intégration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6128" y="4762500"/>
            <a:ext cx="30312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Commande bout en bout, latence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Détection, éclairage, notification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Mode dégradé sans Internet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Chiffrement des échanges</a:t>
            </a:r>
          </a:p>
        </p:txBody>
      </p:sp>
      <p:sp>
        <p:nvSpPr>
          <p:cNvPr name="AutoShape 30" id="30"/>
          <p:cNvSpPr/>
          <p:nvPr/>
        </p:nvSpPr>
        <p:spPr>
          <a:xfrm rot="21480">
            <a:off x="5586574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596128" y="7392924"/>
            <a:ext cx="3031236" cy="342900"/>
            <a:chOff x="0" y="0"/>
            <a:chExt cx="4041648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96128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Rapport de tests d'intégration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62491" y="3145155"/>
            <a:ext cx="3736086" cy="5574030"/>
            <a:chOff x="0" y="0"/>
            <a:chExt cx="4981448" cy="7432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14916" y="3429000"/>
            <a:ext cx="3031236" cy="384048"/>
            <a:chOff x="0" y="0"/>
            <a:chExt cx="4041648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8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14916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Validation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14916" y="4762500"/>
            <a:ext cx="3031236" cy="104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Exigences EF-01 à EF-06 vérifiées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Seuils non fonctionnels mesurés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 en continu sur 48 h</a:t>
            </a:r>
          </a:p>
          <a:p>
            <a:pPr algn="l">
              <a:lnSpc>
                <a:spcPts val="2099"/>
              </a:lnSpc>
            </a:pPr>
          </a:p>
        </p:txBody>
      </p:sp>
      <p:sp>
        <p:nvSpPr>
          <p:cNvPr name="AutoShape 42" id="42"/>
          <p:cNvSpPr/>
          <p:nvPr/>
        </p:nvSpPr>
        <p:spPr>
          <a:xfrm rot="21480">
            <a:off x="9605362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9614916" y="7392924"/>
            <a:ext cx="3031236" cy="342900"/>
            <a:chOff x="0" y="0"/>
            <a:chExt cx="4041648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14916" y="7697724"/>
            <a:ext cx="3031236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Matrice de traçabilité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281279" y="3145155"/>
            <a:ext cx="3736086" cy="5574030"/>
            <a:chOff x="0" y="0"/>
            <a:chExt cx="4981448" cy="7432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81448" cy="7432040"/>
            </a:xfrm>
            <a:custGeom>
              <a:avLst/>
              <a:gdLst/>
              <a:ahLst/>
              <a:cxnLst/>
              <a:rect r="r" b="b" t="t" l="l"/>
              <a:pathLst>
                <a:path h="7432040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7432040"/>
                  </a:lnTo>
                  <a:lnTo>
                    <a:pt x="0" y="7432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33704" y="3429000"/>
            <a:ext cx="3031236" cy="384048"/>
            <a:chOff x="0" y="0"/>
            <a:chExt cx="4041648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41648" cy="512064"/>
            </a:xfrm>
            <a:custGeom>
              <a:avLst/>
              <a:gdLst/>
              <a:ahLst/>
              <a:cxnLst/>
              <a:rect r="r" b="b" t="t" l="l"/>
              <a:pathLst>
                <a:path h="512064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1037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0416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 9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633704" y="3811905"/>
            <a:ext cx="3031236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75" b="true">
                <a:solidFill>
                  <a:srgbClr val="1F3864"/>
                </a:solidFill>
                <a:latin typeface="Cambria Bold"/>
                <a:ea typeface="Cambria Bold"/>
                <a:cs typeface="Cambria Bold"/>
                <a:sym typeface="Cambria Bold"/>
              </a:rPr>
              <a:t>Recette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633704" y="4762500"/>
            <a:ext cx="3031236" cy="104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Tests en présence du client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Prise en main et documentation</a:t>
            </a:r>
          </a:p>
          <a:p>
            <a:pPr algn="l" marL="285036" indent="-142518" lvl="1">
              <a:lnSpc>
                <a:spcPts val="2099"/>
              </a:lnSpc>
              <a:buFont typeface="Arial"/>
              <a:buChar char="•"/>
            </a:pPr>
            <a:r>
              <a:rPr lang="en-US" sz="1575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Maintenance</a:t>
            </a:r>
          </a:p>
          <a:p>
            <a:pPr algn="l">
              <a:lnSpc>
                <a:spcPts val="2099"/>
              </a:lnSpc>
            </a:pPr>
          </a:p>
        </p:txBody>
      </p:sp>
      <p:sp>
        <p:nvSpPr>
          <p:cNvPr name="AutoShape 54" id="54"/>
          <p:cNvSpPr/>
          <p:nvPr/>
        </p:nvSpPr>
        <p:spPr>
          <a:xfrm rot="21480">
            <a:off x="13624150" y="7292150"/>
            <a:ext cx="3050343" cy="0"/>
          </a:xfrm>
          <a:prstGeom prst="line">
            <a:avLst/>
          </a:prstGeom>
          <a:ln cap="rnd" w="9525">
            <a:solidFill>
              <a:srgbClr val="C9C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3633704" y="7392924"/>
            <a:ext cx="3031236" cy="342900"/>
            <a:chOff x="0" y="0"/>
            <a:chExt cx="4041648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41648" cy="457200"/>
            </a:xfrm>
            <a:custGeom>
              <a:avLst/>
              <a:gdLst/>
              <a:ahLst/>
              <a:cxnLst/>
              <a:rect r="r" b="b" t="t" l="l"/>
              <a:pathLst>
                <a:path h="457200" w="4041648">
                  <a:moveTo>
                    <a:pt x="0" y="0"/>
                  </a:moveTo>
                  <a:lnTo>
                    <a:pt x="4041648" y="0"/>
                  </a:lnTo>
                  <a:lnTo>
                    <a:pt x="40416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247" r="0" b="-1222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4164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spc="180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Livrable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633704" y="7697724"/>
            <a:ext cx="3031236" cy="26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1575">
                <a:solidFill>
                  <a:srgbClr val="1F3864"/>
                </a:solidFill>
                <a:latin typeface="Calibri (MS)"/>
                <a:ea typeface="Calibri (MS)"/>
                <a:cs typeface="Calibri (MS)"/>
                <a:sym typeface="Calibri (MS)"/>
              </a:rPr>
              <a:t>lan de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15773400" cy="411480"/>
            <a:chOff x="0" y="0"/>
            <a:chExt cx="210312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239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ET RISQUES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24712"/>
            <a:ext cx="15773400" cy="960120"/>
            <a:chOff x="0" y="0"/>
            <a:chExt cx="210312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Après la livraison, et ce qu'il faut surveiller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41448"/>
            <a:ext cx="8366760" cy="411480"/>
            <a:chOff x="0" y="0"/>
            <a:chExt cx="111556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11556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MAINTENANCE ET SUPPORT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81260" y="2441448"/>
            <a:ext cx="5486400" cy="411480"/>
            <a:chOff x="0" y="0"/>
            <a:chExt cx="7315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95">
                  <a:solidFill>
                    <a:srgbClr val="44546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POINTS DE VIGILANCE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4915" y="3007995"/>
            <a:ext cx="8385810" cy="1390650"/>
            <a:chOff x="0" y="0"/>
            <a:chExt cx="11181080" cy="1854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18488" y="3154680"/>
            <a:ext cx="3429000" cy="1097280"/>
            <a:chOff x="0" y="0"/>
            <a:chExt cx="457200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Maintenance corrective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12080" y="3154680"/>
            <a:ext cx="4251960" cy="1097280"/>
            <a:chOff x="0" y="0"/>
            <a:chExt cx="566928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Sous 48 h pour un incident bloquant, sous 5 jours pour un incident mineur. Diagnostic à distance.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4915" y="4544187"/>
            <a:ext cx="8385810" cy="1390650"/>
            <a:chOff x="0" y="0"/>
            <a:chExt cx="11181080" cy="1854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618488" y="4690872"/>
            <a:ext cx="3429000" cy="1097280"/>
            <a:chOff x="0" y="0"/>
            <a:chExt cx="457200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Maintenance préventive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12080" y="4690872"/>
            <a:ext cx="4251960" cy="1097280"/>
            <a:chOff x="0" y="0"/>
            <a:chExt cx="566928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Contrôle semestriel du capteur d'obstacle et des fins de course.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4915" y="6080379"/>
            <a:ext cx="8385810" cy="1390650"/>
            <a:chOff x="0" y="0"/>
            <a:chExt cx="11181080" cy="1854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8108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181080">
                  <a:moveTo>
                    <a:pt x="0" y="0"/>
                  </a:moveTo>
                  <a:lnTo>
                    <a:pt x="11181080" y="0"/>
                  </a:lnTo>
                  <a:lnTo>
                    <a:pt x="1118108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618488" y="6227064"/>
            <a:ext cx="3429000" cy="1097280"/>
            <a:chOff x="0" y="0"/>
            <a:chExt cx="45720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572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Mises à jour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12080" y="6227064"/>
            <a:ext cx="4251960" cy="1097280"/>
            <a:chOff x="0" y="0"/>
            <a:chExt cx="566928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669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Firmware déployable à distance. Tests de non-régression avant chaque déploiement.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71735" y="3007995"/>
            <a:ext cx="6945630" cy="1390650"/>
            <a:chOff x="0" y="0"/>
            <a:chExt cx="9260840" cy="1854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0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9260840">
                  <a:moveTo>
                    <a:pt x="0" y="0"/>
                  </a:moveTo>
                  <a:lnTo>
                    <a:pt x="9260840" y="0"/>
                  </a:lnTo>
                  <a:lnTo>
                    <a:pt x="9260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465308" y="3154680"/>
            <a:ext cx="3017520" cy="1097280"/>
            <a:chOff x="0" y="0"/>
            <a:chExt cx="40233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233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Motorisation existante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47420" y="3154680"/>
            <a:ext cx="2976372" cy="1097280"/>
            <a:chOff x="0" y="0"/>
            <a:chExt cx="3968496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684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3" r="0" b="-28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684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À vérifier sur site dès la phase 3 : si elle n'est pas pilotable par contact sec, le budget matériel change.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71735" y="4544187"/>
            <a:ext cx="6945630" cy="1390650"/>
            <a:chOff x="0" y="0"/>
            <a:chExt cx="9260840" cy="1854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0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9260840">
                  <a:moveTo>
                    <a:pt x="0" y="0"/>
                  </a:moveTo>
                  <a:lnTo>
                    <a:pt x="9260840" y="0"/>
                  </a:lnTo>
                  <a:lnTo>
                    <a:pt x="9260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2F4F7"/>
            </a:solidFill>
            <a:ln w="19050" cap="sq">
              <a:solidFill>
                <a:srgbClr val="C9CFD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465308" y="4690872"/>
            <a:ext cx="3017520" cy="1097280"/>
            <a:chOff x="0" y="0"/>
            <a:chExt cx="4023360" cy="1463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0233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F386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Réseau dans le garage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47420" y="4690872"/>
            <a:ext cx="2976372" cy="1097280"/>
            <a:chOff x="0" y="0"/>
            <a:chExt cx="3968496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684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3968496">
                  <a:moveTo>
                    <a:pt x="0" y="0"/>
                  </a:moveTo>
                  <a:lnTo>
                    <a:pt x="3968496" y="0"/>
                  </a:lnTo>
                  <a:lnTo>
                    <a:pt x="39684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3" r="0" b="-28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968496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575">
                  <a:solidFill>
                    <a:srgbClr val="26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Installer un repeteur dans le garage pour s’assurer d’etre connecter au wifi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1851660"/>
            <a:ext cx="15773400" cy="480060"/>
            <a:chOff x="0" y="0"/>
            <a:chExt cx="210312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31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375">
                  <a:solidFill>
                    <a:srgbClr val="AEBB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 QU'IL FAUT RETENIR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2468880"/>
            <a:ext cx="14950440" cy="1234440"/>
            <a:chOff x="0" y="0"/>
            <a:chExt cx="199339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33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933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Une phase, un livrable, une vérification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4585335"/>
            <a:ext cx="4956810" cy="2830830"/>
            <a:chOff x="0" y="0"/>
            <a:chExt cx="6609080" cy="3774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4965192"/>
            <a:ext cx="4114800" cy="850392"/>
            <a:chOff x="0" y="0"/>
            <a:chExt cx="548640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 ne passe pas à la suite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920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sans avoir produit et validé le livrable de la phase en cours.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29019" y="4585335"/>
            <a:ext cx="4956810" cy="2830830"/>
            <a:chOff x="0" y="0"/>
            <a:chExt cx="6609080" cy="3774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50024" y="4965192"/>
            <a:ext cx="4114800" cy="850392"/>
            <a:chOff x="0" y="0"/>
            <a:chExt cx="5486400" cy="11338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Chaque test a sa cible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50024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définie à l'avance par la phase de conception qui lui fait face.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33123" y="4585335"/>
            <a:ext cx="4956810" cy="2830830"/>
            <a:chOff x="0" y="0"/>
            <a:chExt cx="6609080" cy="3774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90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2C4A7C"/>
            </a:solidFill>
            <a:ln w="19050" cap="sq">
              <a:solidFill>
                <a:srgbClr val="43608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454128" y="4965192"/>
            <a:ext cx="4114800" cy="850392"/>
            <a:chOff x="0" y="0"/>
            <a:chExt cx="548640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82" r="0" b="-442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8640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périmètre est tracé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54128" y="5803773"/>
            <a:ext cx="4114800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25">
                <a:solidFill>
                  <a:srgbClr val="CDD6E6"/>
                </a:solidFill>
                <a:latin typeface="Calibri (MS)"/>
                <a:ea typeface="Calibri (MS)"/>
                <a:cs typeface="Calibri (MS)"/>
                <a:sym typeface="Calibri (MS)"/>
              </a:rPr>
              <a:t>ce qui est exclu a été décidé et écrit, ce n'est pas un oubli.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DAHVQx3VqbI</dc:identifier>
  <dcterms:modified xsi:type="dcterms:W3CDTF">2011-08-01T06:04:30Z</dcterms:modified>
  <cp:revision>1</cp:revision>
  <dc:title>mise_en_oeuvre</dc:title>
</cp:coreProperties>
</file>