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libri (MS)" charset="1" panose="020F0502020204030204"/>
      <p:regular r:id="rId17"/>
    </p:embeddedFont>
    <p:embeddedFont>
      <p:font typeface="Cambria Bold" charset="1" panose="02040803050406030204"/>
      <p:regular r:id="rId18"/>
    </p:embeddedFont>
    <p:embeddedFont>
      <p:font typeface="Calibri (MS) Italics" charset="1" panose="020F05020202040A0204"/>
      <p:regular r:id="rId20"/>
    </p:embeddedFont>
    <p:embeddedFont>
      <p:font typeface="Calibri (MS) Bold" charset="1" panose="020F070203040403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fonts/font25.fntdata" Type="http://schemas.openxmlformats.org/officeDocument/2006/relationships/font"/><Relationship Id="rId26" Target="notesSlides/notesSlide7.xml" Type="http://schemas.openxmlformats.org/officeDocument/2006/relationships/notesSlide"/><Relationship Id="rId27"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Objectif de cet entretien : obtenir la validation de la méthodologie avant de lancer les travaux. Trois points : les avantages, les phases, les livrables.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Insister sur la double nature matériel et logiciel : c'est ce qui disqualifie une approche purement itérative.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premier point est le coeur de la méthode : la symétrie entre conception et tests.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point bas du V, c'est la Réalisation. Tout ce qui descend est une décision, tout ce qui monte est une vérification. La MOA intervient aux extrémités, la MOE au niveau de la Spécification et de la Validation.</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C'est la diapositive à retenir : la symétrie garantit qu'on ne peut pas oublier de vérifier quelque chose.</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Chaque ligne est un jalon vérifiable. C'est ce qui permet de piloter le projet sans avoir à croire sur parole l'équipe technique.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Anticiper la question de la direction sur l'agilité. Répondre sur le fond, pas sur la mode.</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Conclure sur la demande : valider la méthode pour pouvoir lancer la phase 1.</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3864"/>
        </a:solidFill>
      </p:bgPr>
    </p:bg>
    <p:spTree>
      <p:nvGrpSpPr>
        <p:cNvPr id="1" name=""/>
        <p:cNvGrpSpPr/>
        <p:nvPr/>
      </p:nvGrpSpPr>
      <p:grpSpPr>
        <a:xfrm>
          <a:off x="0" y="0"/>
          <a:ext cx="0" cy="0"/>
          <a:chOff x="0" y="0"/>
          <a:chExt cx="0" cy="0"/>
        </a:xfrm>
      </p:grpSpPr>
      <p:grpSp>
        <p:nvGrpSpPr>
          <p:cNvPr name="Group 2" id="2"/>
          <p:cNvGrpSpPr/>
          <p:nvPr/>
        </p:nvGrpSpPr>
        <p:grpSpPr>
          <a:xfrm rot="0">
            <a:off x="1234440" y="3223260"/>
            <a:ext cx="15773400" cy="480060"/>
            <a:chOff x="0" y="0"/>
            <a:chExt cx="21031200" cy="640080"/>
          </a:xfrm>
        </p:grpSpPr>
        <p:sp>
          <p:nvSpPr>
            <p:cNvPr name="Freeform 3" id="3"/>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4" id="4"/>
            <p:cNvSpPr txBox="true"/>
            <p:nvPr/>
          </p:nvSpPr>
          <p:spPr>
            <a:xfrm>
              <a:off x="0" y="-47625"/>
              <a:ext cx="21031200" cy="687705"/>
            </a:xfrm>
            <a:prstGeom prst="rect">
              <a:avLst/>
            </a:prstGeom>
          </p:spPr>
          <p:txBody>
            <a:bodyPr anchor="ctr" rtlCol="false" tIns="0" lIns="0" bIns="0" rIns="0"/>
            <a:lstStyle/>
            <a:p>
              <a:pPr algn="l">
                <a:lnSpc>
                  <a:spcPts val="2340"/>
                </a:lnSpc>
              </a:pPr>
              <a:r>
                <a:rPr lang="en-US" sz="1950" spc="375">
                  <a:solidFill>
                    <a:srgbClr val="AEBBD4"/>
                  </a:solidFill>
                  <a:latin typeface="Calibri (MS)"/>
                  <a:ea typeface="Calibri (MS)"/>
                  <a:cs typeface="Calibri (MS)"/>
                  <a:sym typeface="Calibri (MS)"/>
                </a:rPr>
                <a:t>PROJET GARAGE CONNECTÉ</a:t>
              </a:r>
            </a:p>
          </p:txBody>
        </p:sp>
      </p:grpSp>
      <p:grpSp>
        <p:nvGrpSpPr>
          <p:cNvPr name="Group 5" id="5"/>
          <p:cNvGrpSpPr/>
          <p:nvPr/>
        </p:nvGrpSpPr>
        <p:grpSpPr>
          <a:xfrm rot="0">
            <a:off x="1234440" y="3840480"/>
            <a:ext cx="15773400" cy="1371600"/>
            <a:chOff x="0" y="0"/>
            <a:chExt cx="21031200" cy="1828800"/>
          </a:xfrm>
        </p:grpSpPr>
        <p:sp>
          <p:nvSpPr>
            <p:cNvPr name="Freeform 6" id="6"/>
            <p:cNvSpPr/>
            <p:nvPr/>
          </p:nvSpPr>
          <p:spPr>
            <a:xfrm flipH="false" flipV="false" rot="0">
              <a:off x="0" y="0"/>
              <a:ext cx="21031200" cy="1828800"/>
            </a:xfrm>
            <a:custGeom>
              <a:avLst/>
              <a:gdLst/>
              <a:ahLst/>
              <a:cxnLst/>
              <a:rect r="r" b="b" t="t" l="l"/>
              <a:pathLst>
                <a:path h="1828800" w="21031200">
                  <a:moveTo>
                    <a:pt x="0" y="0"/>
                  </a:moveTo>
                  <a:lnTo>
                    <a:pt x="21031200" y="0"/>
                  </a:lnTo>
                  <a:lnTo>
                    <a:pt x="21031200" y="1828800"/>
                  </a:lnTo>
                  <a:lnTo>
                    <a:pt x="0" y="1828800"/>
                  </a:lnTo>
                  <a:close/>
                </a:path>
              </a:pathLst>
            </a:custGeom>
            <a:blipFill>
              <a:blip r:embed="rId3">
                <a:alphaModFix amt="0"/>
              </a:blip>
              <a:stretch>
                <a:fillRect l="0" t="-174077" r="0" b="-174077"/>
              </a:stretch>
            </a:blipFill>
          </p:spPr>
        </p:sp>
        <p:sp>
          <p:nvSpPr>
            <p:cNvPr name="TextBox 7" id="7"/>
            <p:cNvSpPr txBox="true"/>
            <p:nvPr/>
          </p:nvSpPr>
          <p:spPr>
            <a:xfrm>
              <a:off x="0" y="-19050"/>
              <a:ext cx="21031200" cy="1847850"/>
            </a:xfrm>
            <a:prstGeom prst="rect">
              <a:avLst/>
            </a:prstGeom>
          </p:spPr>
          <p:txBody>
            <a:bodyPr anchor="ctr" rtlCol="false" tIns="0" lIns="0" bIns="0" rIns="0"/>
            <a:lstStyle/>
            <a:p>
              <a:pPr algn="l">
                <a:lnSpc>
                  <a:spcPts val="7559"/>
                </a:lnSpc>
              </a:pPr>
              <a:r>
                <a:rPr lang="en-US" sz="6300" b="true">
                  <a:solidFill>
                    <a:srgbClr val="FFFFFF"/>
                  </a:solidFill>
                  <a:latin typeface="Cambria Bold"/>
                  <a:ea typeface="Cambria Bold"/>
                  <a:cs typeface="Cambria Bold"/>
                  <a:sym typeface="Cambria Bold"/>
                </a:rPr>
                <a:t>La méthode du Cycle en V</a:t>
              </a:r>
            </a:p>
          </p:txBody>
        </p:sp>
      </p:grpSp>
      <p:grpSp>
        <p:nvGrpSpPr>
          <p:cNvPr name="Group 8" id="8"/>
          <p:cNvGrpSpPr/>
          <p:nvPr/>
        </p:nvGrpSpPr>
        <p:grpSpPr>
          <a:xfrm rot="0">
            <a:off x="1234440" y="5417820"/>
            <a:ext cx="14950440" cy="822960"/>
            <a:chOff x="0" y="0"/>
            <a:chExt cx="19933920" cy="1097280"/>
          </a:xfrm>
        </p:grpSpPr>
        <p:sp>
          <p:nvSpPr>
            <p:cNvPr name="Freeform 9" id="9"/>
            <p:cNvSpPr/>
            <p:nvPr/>
          </p:nvSpPr>
          <p:spPr>
            <a:xfrm flipH="false" flipV="false" rot="0">
              <a:off x="0" y="0"/>
              <a:ext cx="19933920" cy="1097280"/>
            </a:xfrm>
            <a:custGeom>
              <a:avLst/>
              <a:gdLst/>
              <a:ahLst/>
              <a:cxnLst/>
              <a:rect r="r" b="b" t="t" l="l"/>
              <a:pathLst>
                <a:path h="1097280" w="19933920">
                  <a:moveTo>
                    <a:pt x="0" y="0"/>
                  </a:moveTo>
                  <a:lnTo>
                    <a:pt x="19933920" y="0"/>
                  </a:lnTo>
                  <a:lnTo>
                    <a:pt x="19933920" y="1097280"/>
                  </a:lnTo>
                  <a:lnTo>
                    <a:pt x="0" y="1097280"/>
                  </a:lnTo>
                  <a:close/>
                </a:path>
              </a:pathLst>
            </a:custGeom>
            <a:blipFill>
              <a:blip r:embed="rId3">
                <a:alphaModFix amt="0"/>
              </a:blip>
              <a:stretch>
                <a:fillRect l="0" t="-303978" r="0" b="-303978"/>
              </a:stretch>
            </a:blipFill>
          </p:spPr>
        </p:sp>
        <p:sp>
          <p:nvSpPr>
            <p:cNvPr name="TextBox 10" id="10"/>
            <p:cNvSpPr txBox="true"/>
            <p:nvPr/>
          </p:nvSpPr>
          <p:spPr>
            <a:xfrm>
              <a:off x="0" y="-47625"/>
              <a:ext cx="19933920" cy="1144905"/>
            </a:xfrm>
            <a:prstGeom prst="rect">
              <a:avLst/>
            </a:prstGeom>
          </p:spPr>
          <p:txBody>
            <a:bodyPr anchor="ctr" rtlCol="false" tIns="0" lIns="0" bIns="0" rIns="0"/>
            <a:lstStyle/>
            <a:p>
              <a:pPr algn="l">
                <a:lnSpc>
                  <a:spcPts val="2790"/>
                </a:lnSpc>
              </a:pPr>
              <a:r>
                <a:rPr lang="en-US" sz="2325">
                  <a:solidFill>
                    <a:srgbClr val="CDD6E6"/>
                  </a:solidFill>
                  <a:latin typeface="Calibri (MS)"/>
                  <a:ea typeface="Calibri (MS)"/>
                  <a:cs typeface="Calibri (MS)"/>
                  <a:sym typeface="Calibri (MS)"/>
                </a:rPr>
                <a:t>Pourquoi cette méthode est la mieux adaptée à notre projet : avantages, phases clés et livrables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440" y="685800"/>
            <a:ext cx="15773400" cy="411480"/>
            <a:chOff x="0" y="0"/>
            <a:chExt cx="21031200" cy="548640"/>
          </a:xfrm>
        </p:grpSpPr>
        <p:sp>
          <p:nvSpPr>
            <p:cNvPr name="Freeform 3" id="3"/>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4" id="4"/>
            <p:cNvSpPr txBox="true"/>
            <p:nvPr/>
          </p:nvSpPr>
          <p:spPr>
            <a:xfrm>
              <a:off x="0" y="-38100"/>
              <a:ext cx="21031200" cy="586740"/>
            </a:xfrm>
            <a:prstGeom prst="rect">
              <a:avLst/>
            </a:prstGeom>
          </p:spPr>
          <p:txBody>
            <a:bodyPr anchor="ctr" rtlCol="false" tIns="0" lIns="0" bIns="0" rIns="0"/>
            <a:lstStyle/>
            <a:p>
              <a:pPr algn="l">
                <a:lnSpc>
                  <a:spcPts val="2070"/>
                </a:lnSpc>
              </a:pPr>
              <a:r>
                <a:rPr lang="en-US" sz="1725" spc="239">
                  <a:solidFill>
                    <a:srgbClr val="44546A"/>
                  </a:solidFill>
                  <a:latin typeface="Calibri (MS)"/>
                  <a:ea typeface="Calibri (MS)"/>
                  <a:cs typeface="Calibri (MS)"/>
                  <a:sym typeface="Calibri (MS)"/>
                </a:rPr>
                <a:t>CONTEXTE</a:t>
              </a:r>
            </a:p>
          </p:txBody>
        </p:sp>
      </p:grpSp>
      <p:grpSp>
        <p:nvGrpSpPr>
          <p:cNvPr name="Group 5" id="5"/>
          <p:cNvGrpSpPr/>
          <p:nvPr/>
        </p:nvGrpSpPr>
        <p:grpSpPr>
          <a:xfrm rot="0">
            <a:off x="123444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F3864"/>
                  </a:solidFill>
                  <a:latin typeface="Cambria Bold"/>
                  <a:ea typeface="Cambria Bold"/>
                  <a:cs typeface="Cambria Bold"/>
                  <a:sym typeface="Cambria Bold"/>
                </a:rPr>
                <a:t>Le projet en deux lignes</a:t>
              </a:r>
            </a:p>
          </p:txBody>
        </p:sp>
      </p:grpSp>
      <p:grpSp>
        <p:nvGrpSpPr>
          <p:cNvPr name="Group 8" id="8"/>
          <p:cNvGrpSpPr/>
          <p:nvPr/>
        </p:nvGrpSpPr>
        <p:grpSpPr>
          <a:xfrm rot="0">
            <a:off x="1234440" y="2537460"/>
            <a:ext cx="15773400" cy="891540"/>
            <a:chOff x="0" y="0"/>
            <a:chExt cx="21031200" cy="1188720"/>
          </a:xfrm>
        </p:grpSpPr>
        <p:sp>
          <p:nvSpPr>
            <p:cNvPr name="Freeform 9" id="9"/>
            <p:cNvSpPr/>
            <p:nvPr/>
          </p:nvSpPr>
          <p:spPr>
            <a:xfrm flipH="false" flipV="false" rot="0">
              <a:off x="0" y="0"/>
              <a:ext cx="21031200" cy="1188720"/>
            </a:xfrm>
            <a:custGeom>
              <a:avLst/>
              <a:gdLst/>
              <a:ahLst/>
              <a:cxnLst/>
              <a:rect r="r" b="b" t="t" l="l"/>
              <a:pathLst>
                <a:path h="1188720" w="21031200">
                  <a:moveTo>
                    <a:pt x="0" y="0"/>
                  </a:moveTo>
                  <a:lnTo>
                    <a:pt x="21031200" y="0"/>
                  </a:lnTo>
                  <a:lnTo>
                    <a:pt x="21031200" y="1188720"/>
                  </a:lnTo>
                  <a:lnTo>
                    <a:pt x="0" y="1188720"/>
                  </a:lnTo>
                  <a:close/>
                </a:path>
              </a:pathLst>
            </a:custGeom>
            <a:blipFill>
              <a:blip r:embed="rId3">
                <a:alphaModFix amt="0"/>
              </a:blip>
              <a:stretch>
                <a:fillRect l="0" t="-294735" r="0" b="-294735"/>
              </a:stretch>
            </a:blipFill>
          </p:spPr>
        </p:sp>
        <p:sp>
          <p:nvSpPr>
            <p:cNvPr name="TextBox 10" id="10"/>
            <p:cNvSpPr txBox="true"/>
            <p:nvPr/>
          </p:nvSpPr>
          <p:spPr>
            <a:xfrm>
              <a:off x="0" y="-114300"/>
              <a:ext cx="21031200" cy="1303020"/>
            </a:xfrm>
            <a:prstGeom prst="rect">
              <a:avLst/>
            </a:prstGeom>
          </p:spPr>
          <p:txBody>
            <a:bodyPr anchor="ctr" rtlCol="false" tIns="0" lIns="0" bIns="0" rIns="0"/>
            <a:lstStyle/>
            <a:p>
              <a:pPr algn="l">
                <a:lnSpc>
                  <a:spcPts val="3449"/>
                </a:lnSpc>
              </a:pPr>
              <a:r>
                <a:rPr lang="en-US" sz="2325">
                  <a:solidFill>
                    <a:srgbClr val="262626"/>
                  </a:solidFill>
                  <a:latin typeface="Calibri (MS)"/>
                  <a:ea typeface="Calibri (MS)"/>
                  <a:cs typeface="Calibri (MS)"/>
                  <a:sym typeface="Calibri (MS)"/>
                </a:rPr>
                <a:t>Concevoir et déployer un garage connecté : ouverture et fermeture automatiques de la porte, éclairage automatique sur détection de présence, supervision depuis un téléphone.</a:t>
              </a:r>
            </a:p>
          </p:txBody>
        </p:sp>
      </p:grpSp>
      <p:grpSp>
        <p:nvGrpSpPr>
          <p:cNvPr name="Group 11" id="11"/>
          <p:cNvGrpSpPr/>
          <p:nvPr/>
        </p:nvGrpSpPr>
        <p:grpSpPr>
          <a:xfrm rot="0">
            <a:off x="1224915" y="3899535"/>
            <a:ext cx="4956810" cy="3173730"/>
            <a:chOff x="0" y="0"/>
            <a:chExt cx="6609080" cy="4231640"/>
          </a:xfrm>
        </p:grpSpPr>
        <p:sp>
          <p:nvSpPr>
            <p:cNvPr name="Freeform 12" id="12"/>
            <p:cNvSpPr/>
            <p:nvPr/>
          </p:nvSpPr>
          <p:spPr>
            <a:xfrm flipH="false" flipV="false" rot="0">
              <a:off x="0" y="0"/>
              <a:ext cx="6609080" cy="4231640"/>
            </a:xfrm>
            <a:custGeom>
              <a:avLst/>
              <a:gdLst/>
              <a:ahLst/>
              <a:cxnLst/>
              <a:rect r="r" b="b" t="t" l="l"/>
              <a:pathLst>
                <a:path h="4231640" w="6609080">
                  <a:moveTo>
                    <a:pt x="0" y="0"/>
                  </a:moveTo>
                  <a:lnTo>
                    <a:pt x="6609080" y="0"/>
                  </a:lnTo>
                  <a:lnTo>
                    <a:pt x="6609080" y="4231640"/>
                  </a:lnTo>
                  <a:lnTo>
                    <a:pt x="0" y="4231640"/>
                  </a:lnTo>
                  <a:close/>
                </a:path>
              </a:pathLst>
            </a:custGeom>
            <a:solidFill>
              <a:srgbClr val="F2F4F7"/>
            </a:solidFill>
            <a:ln w="19050" cap="sq">
              <a:solidFill>
                <a:srgbClr val="C9CFD6"/>
              </a:solidFill>
              <a:prstDash val="solid"/>
              <a:miter/>
            </a:ln>
          </p:spPr>
        </p:sp>
      </p:grpSp>
      <p:grpSp>
        <p:nvGrpSpPr>
          <p:cNvPr name="Group 13" id="13"/>
          <p:cNvGrpSpPr/>
          <p:nvPr/>
        </p:nvGrpSpPr>
        <p:grpSpPr>
          <a:xfrm rot="0">
            <a:off x="1645920" y="4251960"/>
            <a:ext cx="4114800" cy="548640"/>
            <a:chOff x="0" y="0"/>
            <a:chExt cx="5486400" cy="731520"/>
          </a:xfrm>
        </p:grpSpPr>
        <p:sp>
          <p:nvSpPr>
            <p:cNvPr name="Freeform 14" id="14"/>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3">
                <a:alphaModFix amt="0"/>
              </a:blip>
              <a:stretch>
                <a:fillRect l="0" t="-96137" r="0" b="-96137"/>
              </a:stretch>
            </a:blipFill>
          </p:spPr>
        </p:sp>
        <p:sp>
          <p:nvSpPr>
            <p:cNvPr name="TextBox 15" id="15"/>
            <p:cNvSpPr txBox="true"/>
            <p:nvPr/>
          </p:nvSpPr>
          <p:spPr>
            <a:xfrm>
              <a:off x="0" y="0"/>
              <a:ext cx="5486400" cy="731520"/>
            </a:xfrm>
            <a:prstGeom prst="rect">
              <a:avLst/>
            </a:prstGeom>
          </p:spPr>
          <p:txBody>
            <a:bodyPr anchor="ctr" rtlCol="false" tIns="0" lIns="0" bIns="0" rIns="0"/>
            <a:lstStyle/>
            <a:p>
              <a:pPr algn="l">
                <a:lnSpc>
                  <a:spcPts val="2790"/>
                </a:lnSpc>
              </a:pPr>
              <a:r>
                <a:rPr lang="en-US" sz="2325" b="true">
                  <a:solidFill>
                    <a:srgbClr val="1F3864"/>
                  </a:solidFill>
                  <a:latin typeface="Cambria Bold"/>
                  <a:ea typeface="Cambria Bold"/>
                  <a:cs typeface="Cambria Bold"/>
                  <a:sym typeface="Cambria Bold"/>
                </a:rPr>
                <a:t>Un projet mixte</a:t>
              </a:r>
            </a:p>
          </p:txBody>
        </p:sp>
      </p:grpSp>
      <p:sp>
        <p:nvSpPr>
          <p:cNvPr name="TextBox 16" id="16"/>
          <p:cNvSpPr txBox="true"/>
          <p:nvPr/>
        </p:nvSpPr>
        <p:spPr>
          <a:xfrm rot="0">
            <a:off x="1645920" y="4843653"/>
            <a:ext cx="4114800" cy="198691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Du matériel (motorisation, capteurs, contrôleur) et du logiciel (supervision, historique, automatisations).</a:t>
            </a:r>
          </a:p>
        </p:txBody>
      </p:sp>
      <p:grpSp>
        <p:nvGrpSpPr>
          <p:cNvPr name="Group 17" id="17"/>
          <p:cNvGrpSpPr/>
          <p:nvPr/>
        </p:nvGrpSpPr>
        <p:grpSpPr>
          <a:xfrm rot="0">
            <a:off x="6629019" y="3899535"/>
            <a:ext cx="4956810" cy="3173730"/>
            <a:chOff x="0" y="0"/>
            <a:chExt cx="6609080" cy="4231640"/>
          </a:xfrm>
        </p:grpSpPr>
        <p:sp>
          <p:nvSpPr>
            <p:cNvPr name="Freeform 18" id="18"/>
            <p:cNvSpPr/>
            <p:nvPr/>
          </p:nvSpPr>
          <p:spPr>
            <a:xfrm flipH="false" flipV="false" rot="0">
              <a:off x="0" y="0"/>
              <a:ext cx="6609080" cy="4231640"/>
            </a:xfrm>
            <a:custGeom>
              <a:avLst/>
              <a:gdLst/>
              <a:ahLst/>
              <a:cxnLst/>
              <a:rect r="r" b="b" t="t" l="l"/>
              <a:pathLst>
                <a:path h="4231640" w="6609080">
                  <a:moveTo>
                    <a:pt x="0" y="0"/>
                  </a:moveTo>
                  <a:lnTo>
                    <a:pt x="6609080" y="0"/>
                  </a:lnTo>
                  <a:lnTo>
                    <a:pt x="6609080" y="4231640"/>
                  </a:lnTo>
                  <a:lnTo>
                    <a:pt x="0" y="4231640"/>
                  </a:lnTo>
                  <a:close/>
                </a:path>
              </a:pathLst>
            </a:custGeom>
            <a:solidFill>
              <a:srgbClr val="F2F4F7"/>
            </a:solidFill>
            <a:ln w="19050" cap="sq">
              <a:solidFill>
                <a:srgbClr val="C9CFD6"/>
              </a:solidFill>
              <a:prstDash val="solid"/>
              <a:miter/>
            </a:ln>
          </p:spPr>
        </p:sp>
      </p:grpSp>
      <p:grpSp>
        <p:nvGrpSpPr>
          <p:cNvPr name="Group 19" id="19"/>
          <p:cNvGrpSpPr/>
          <p:nvPr/>
        </p:nvGrpSpPr>
        <p:grpSpPr>
          <a:xfrm rot="0">
            <a:off x="7050024" y="4251960"/>
            <a:ext cx="4114800" cy="548640"/>
            <a:chOff x="0" y="0"/>
            <a:chExt cx="5486400" cy="731520"/>
          </a:xfrm>
        </p:grpSpPr>
        <p:sp>
          <p:nvSpPr>
            <p:cNvPr name="Freeform 20" id="20"/>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3">
                <a:alphaModFix amt="0"/>
              </a:blip>
              <a:stretch>
                <a:fillRect l="0" t="-96137" r="0" b="-96137"/>
              </a:stretch>
            </a:blipFill>
          </p:spPr>
        </p:sp>
        <p:sp>
          <p:nvSpPr>
            <p:cNvPr name="TextBox 21" id="21"/>
            <p:cNvSpPr txBox="true"/>
            <p:nvPr/>
          </p:nvSpPr>
          <p:spPr>
            <a:xfrm>
              <a:off x="0" y="0"/>
              <a:ext cx="5486400" cy="731520"/>
            </a:xfrm>
            <a:prstGeom prst="rect">
              <a:avLst/>
            </a:prstGeom>
          </p:spPr>
          <p:txBody>
            <a:bodyPr anchor="ctr" rtlCol="false" tIns="0" lIns="0" bIns="0" rIns="0"/>
            <a:lstStyle/>
            <a:p>
              <a:pPr algn="l">
                <a:lnSpc>
                  <a:spcPts val="2790"/>
                </a:lnSpc>
              </a:pPr>
              <a:r>
                <a:rPr lang="en-US" sz="2325" b="true">
                  <a:solidFill>
                    <a:srgbClr val="1F3864"/>
                  </a:solidFill>
                  <a:latin typeface="Cambria Bold"/>
                  <a:ea typeface="Cambria Bold"/>
                  <a:cs typeface="Cambria Bold"/>
                  <a:sym typeface="Cambria Bold"/>
                </a:rPr>
                <a:t>Un besoin stable</a:t>
              </a:r>
            </a:p>
          </p:txBody>
        </p:sp>
      </p:grpSp>
      <p:sp>
        <p:nvSpPr>
          <p:cNvPr name="TextBox 22" id="22"/>
          <p:cNvSpPr txBox="true"/>
          <p:nvPr/>
        </p:nvSpPr>
        <p:spPr>
          <a:xfrm rot="0">
            <a:off x="7050024" y="4843653"/>
            <a:ext cx="4114800" cy="198691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Le client sait précisément ce qu'il veut. Il n'y a pas d'exploration produit à mener.</a:t>
            </a:r>
          </a:p>
        </p:txBody>
      </p:sp>
      <p:grpSp>
        <p:nvGrpSpPr>
          <p:cNvPr name="Group 23" id="23"/>
          <p:cNvGrpSpPr/>
          <p:nvPr/>
        </p:nvGrpSpPr>
        <p:grpSpPr>
          <a:xfrm rot="0">
            <a:off x="12033123" y="3899535"/>
            <a:ext cx="4956810" cy="3173730"/>
            <a:chOff x="0" y="0"/>
            <a:chExt cx="6609080" cy="4231640"/>
          </a:xfrm>
        </p:grpSpPr>
        <p:sp>
          <p:nvSpPr>
            <p:cNvPr name="Freeform 24" id="24"/>
            <p:cNvSpPr/>
            <p:nvPr/>
          </p:nvSpPr>
          <p:spPr>
            <a:xfrm flipH="false" flipV="false" rot="0">
              <a:off x="0" y="0"/>
              <a:ext cx="6609080" cy="4231640"/>
            </a:xfrm>
            <a:custGeom>
              <a:avLst/>
              <a:gdLst/>
              <a:ahLst/>
              <a:cxnLst/>
              <a:rect r="r" b="b" t="t" l="l"/>
              <a:pathLst>
                <a:path h="4231640" w="6609080">
                  <a:moveTo>
                    <a:pt x="0" y="0"/>
                  </a:moveTo>
                  <a:lnTo>
                    <a:pt x="6609080" y="0"/>
                  </a:lnTo>
                  <a:lnTo>
                    <a:pt x="6609080" y="4231640"/>
                  </a:lnTo>
                  <a:lnTo>
                    <a:pt x="0" y="4231640"/>
                  </a:lnTo>
                  <a:close/>
                </a:path>
              </a:pathLst>
            </a:custGeom>
            <a:solidFill>
              <a:srgbClr val="F2F4F7"/>
            </a:solidFill>
            <a:ln w="19050" cap="sq">
              <a:solidFill>
                <a:srgbClr val="C9CFD6"/>
              </a:solidFill>
              <a:prstDash val="solid"/>
              <a:miter/>
            </a:ln>
          </p:spPr>
        </p:sp>
      </p:grpSp>
      <p:grpSp>
        <p:nvGrpSpPr>
          <p:cNvPr name="Group 25" id="25"/>
          <p:cNvGrpSpPr/>
          <p:nvPr/>
        </p:nvGrpSpPr>
        <p:grpSpPr>
          <a:xfrm rot="0">
            <a:off x="12454128" y="4251960"/>
            <a:ext cx="4114800" cy="548640"/>
            <a:chOff x="0" y="0"/>
            <a:chExt cx="5486400" cy="731520"/>
          </a:xfrm>
        </p:grpSpPr>
        <p:sp>
          <p:nvSpPr>
            <p:cNvPr name="Freeform 26" id="26"/>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3">
                <a:alphaModFix amt="0"/>
              </a:blip>
              <a:stretch>
                <a:fillRect l="0" t="-96137" r="0" b="-96137"/>
              </a:stretch>
            </a:blipFill>
          </p:spPr>
        </p:sp>
        <p:sp>
          <p:nvSpPr>
            <p:cNvPr name="TextBox 27" id="27"/>
            <p:cNvSpPr txBox="true"/>
            <p:nvPr/>
          </p:nvSpPr>
          <p:spPr>
            <a:xfrm>
              <a:off x="0" y="0"/>
              <a:ext cx="5486400" cy="731520"/>
            </a:xfrm>
            <a:prstGeom prst="rect">
              <a:avLst/>
            </a:prstGeom>
          </p:spPr>
          <p:txBody>
            <a:bodyPr anchor="ctr" rtlCol="false" tIns="0" lIns="0" bIns="0" rIns="0"/>
            <a:lstStyle/>
            <a:p>
              <a:pPr algn="l">
                <a:lnSpc>
                  <a:spcPts val="2790"/>
                </a:lnSpc>
              </a:pPr>
              <a:r>
                <a:rPr lang="en-US" sz="2325" b="true">
                  <a:solidFill>
                    <a:srgbClr val="1F3864"/>
                  </a:solidFill>
                  <a:latin typeface="Cambria Bold"/>
                  <a:ea typeface="Cambria Bold"/>
                  <a:cs typeface="Cambria Bold"/>
                  <a:sym typeface="Cambria Bold"/>
                </a:rPr>
                <a:t>Un enjeu de sécurité</a:t>
              </a:r>
            </a:p>
          </p:txBody>
        </p:sp>
      </p:grpSp>
      <p:sp>
        <p:nvSpPr>
          <p:cNvPr name="TextBox 28" id="28"/>
          <p:cNvSpPr txBox="true"/>
          <p:nvPr/>
        </p:nvSpPr>
        <p:spPr>
          <a:xfrm rot="0">
            <a:off x="12454128" y="4843653"/>
            <a:ext cx="4114800" cy="198691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Le système commande un accès physique au domicile : aucune approximation n'est possible.</a:t>
            </a:r>
          </a:p>
        </p:txBody>
      </p:sp>
      <p:grpSp>
        <p:nvGrpSpPr>
          <p:cNvPr name="Group 29" id="29"/>
          <p:cNvGrpSpPr/>
          <p:nvPr/>
        </p:nvGrpSpPr>
        <p:grpSpPr>
          <a:xfrm rot="0">
            <a:off x="1234440" y="9436608"/>
            <a:ext cx="15773400" cy="411480"/>
            <a:chOff x="0" y="0"/>
            <a:chExt cx="21031200" cy="548640"/>
          </a:xfrm>
        </p:grpSpPr>
        <p:sp>
          <p:nvSpPr>
            <p:cNvPr name="Freeform 30" id="30"/>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31" id="31"/>
            <p:cNvSpPr txBox="true"/>
            <p:nvPr/>
          </p:nvSpPr>
          <p:spPr>
            <a:xfrm>
              <a:off x="0" y="-38100"/>
              <a:ext cx="21031200" cy="586740"/>
            </a:xfrm>
            <a:prstGeom prst="rect">
              <a:avLst/>
            </a:prstGeom>
          </p:spPr>
          <p:txBody>
            <a:bodyPr anchor="ctr" rtlCol="false" tIns="0" lIns="0" bIns="0" rIns="0"/>
            <a:lstStyle/>
            <a:p>
              <a:pPr algn="l">
                <a:lnSpc>
                  <a:spcPts val="1800"/>
                </a:lnSpc>
              </a:pPr>
              <a:r>
                <a:rPr lang="en-US" sz="1500" i="true">
                  <a:solidFill>
                    <a:srgbClr val="7A8595"/>
                  </a:solidFill>
                  <a:latin typeface="Calibri (MS) Italics"/>
                  <a:ea typeface="Calibri (MS) Italics"/>
                  <a:cs typeface="Calibri (MS) Italics"/>
                  <a:sym typeface="Calibri (MS) Italics"/>
                </a:rPr>
                <a:t>Ces trois caractéristiques orientent directement le choix de la méthodologie.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440" y="685800"/>
            <a:ext cx="15773400" cy="411480"/>
            <a:chOff x="0" y="0"/>
            <a:chExt cx="21031200" cy="548640"/>
          </a:xfrm>
        </p:grpSpPr>
        <p:sp>
          <p:nvSpPr>
            <p:cNvPr name="Freeform 3" id="3"/>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4" id="4"/>
            <p:cNvSpPr txBox="true"/>
            <p:nvPr/>
          </p:nvSpPr>
          <p:spPr>
            <a:xfrm>
              <a:off x="0" y="-38100"/>
              <a:ext cx="21031200" cy="586740"/>
            </a:xfrm>
            <a:prstGeom prst="rect">
              <a:avLst/>
            </a:prstGeom>
          </p:spPr>
          <p:txBody>
            <a:bodyPr anchor="ctr" rtlCol="false" tIns="0" lIns="0" bIns="0" rIns="0"/>
            <a:lstStyle/>
            <a:p>
              <a:pPr algn="l">
                <a:lnSpc>
                  <a:spcPts val="2070"/>
                </a:lnSpc>
              </a:pPr>
              <a:r>
                <a:rPr lang="en-US" sz="1725" spc="239">
                  <a:solidFill>
                    <a:srgbClr val="44546A"/>
                  </a:solidFill>
                  <a:latin typeface="Calibri (MS)"/>
                  <a:ea typeface="Calibri (MS)"/>
                  <a:cs typeface="Calibri (MS)"/>
                  <a:sym typeface="Calibri (MS)"/>
                </a:rPr>
                <a:t>POURQUOI LE CYCLE EN V</a:t>
              </a:r>
            </a:p>
          </p:txBody>
        </p:sp>
      </p:grpSp>
      <p:grpSp>
        <p:nvGrpSpPr>
          <p:cNvPr name="Group 5" id="5"/>
          <p:cNvGrpSpPr/>
          <p:nvPr/>
        </p:nvGrpSpPr>
        <p:grpSpPr>
          <a:xfrm rot="0">
            <a:off x="123444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F3864"/>
                  </a:solidFill>
                  <a:latin typeface="Cambria Bold"/>
                  <a:ea typeface="Cambria Bold"/>
                  <a:cs typeface="Cambria Bold"/>
                  <a:sym typeface="Cambria Bold"/>
                </a:rPr>
                <a:t>Les avantages de la méthode</a:t>
              </a:r>
            </a:p>
          </p:txBody>
        </p:sp>
      </p:grpSp>
      <p:grpSp>
        <p:nvGrpSpPr>
          <p:cNvPr name="Group 8" id="8"/>
          <p:cNvGrpSpPr/>
          <p:nvPr/>
        </p:nvGrpSpPr>
        <p:grpSpPr>
          <a:xfrm rot="0">
            <a:off x="1224915" y="2665095"/>
            <a:ext cx="7700010" cy="2625090"/>
            <a:chOff x="0" y="0"/>
            <a:chExt cx="10266680" cy="3500120"/>
          </a:xfrm>
        </p:grpSpPr>
        <p:sp>
          <p:nvSpPr>
            <p:cNvPr name="Freeform 9" id="9"/>
            <p:cNvSpPr/>
            <p:nvPr/>
          </p:nvSpPr>
          <p:spPr>
            <a:xfrm flipH="false" flipV="false" rot="0">
              <a:off x="0" y="0"/>
              <a:ext cx="10266680" cy="3500120"/>
            </a:xfrm>
            <a:custGeom>
              <a:avLst/>
              <a:gdLst/>
              <a:ahLst/>
              <a:cxnLst/>
              <a:rect r="r" b="b" t="t" l="l"/>
              <a:pathLst>
                <a:path h="3500120" w="10266680">
                  <a:moveTo>
                    <a:pt x="0" y="0"/>
                  </a:moveTo>
                  <a:lnTo>
                    <a:pt x="10266680" y="0"/>
                  </a:lnTo>
                  <a:lnTo>
                    <a:pt x="10266680" y="3500120"/>
                  </a:lnTo>
                  <a:lnTo>
                    <a:pt x="0" y="3500120"/>
                  </a:lnTo>
                  <a:close/>
                </a:path>
              </a:pathLst>
            </a:custGeom>
            <a:solidFill>
              <a:srgbClr val="FFFFFF"/>
            </a:solidFill>
            <a:ln w="19050" cap="sq">
              <a:solidFill>
                <a:srgbClr val="C9CFD6"/>
              </a:solidFill>
              <a:prstDash val="solid"/>
              <a:miter/>
            </a:ln>
          </p:spPr>
        </p:sp>
      </p:grpSp>
      <p:grpSp>
        <p:nvGrpSpPr>
          <p:cNvPr name="Group 10" id="10"/>
          <p:cNvGrpSpPr/>
          <p:nvPr/>
        </p:nvGrpSpPr>
        <p:grpSpPr>
          <a:xfrm rot="0">
            <a:off x="1618488" y="3017520"/>
            <a:ext cx="617220" cy="548640"/>
            <a:chOff x="0" y="0"/>
            <a:chExt cx="822960" cy="731520"/>
          </a:xfrm>
        </p:grpSpPr>
        <p:sp>
          <p:nvSpPr>
            <p:cNvPr name="Freeform 11" id="11"/>
            <p:cNvSpPr/>
            <p:nvPr/>
          </p:nvSpPr>
          <p:spPr>
            <a:xfrm flipH="false" flipV="false" rot="0">
              <a:off x="0" y="0"/>
              <a:ext cx="822960" cy="731520"/>
            </a:xfrm>
            <a:custGeom>
              <a:avLst/>
              <a:gdLst/>
              <a:ahLst/>
              <a:cxnLst/>
              <a:rect r="r" b="b" t="t" l="l"/>
              <a:pathLst>
                <a:path h="731520" w="822960">
                  <a:moveTo>
                    <a:pt x="0" y="0"/>
                  </a:moveTo>
                  <a:lnTo>
                    <a:pt x="822960" y="0"/>
                  </a:lnTo>
                  <a:lnTo>
                    <a:pt x="822960" y="731520"/>
                  </a:lnTo>
                  <a:lnTo>
                    <a:pt x="0" y="731520"/>
                  </a:lnTo>
                  <a:close/>
                </a:path>
              </a:pathLst>
            </a:custGeom>
            <a:blipFill>
              <a:blip r:embed="rId3">
                <a:alphaModFix amt="0"/>
              </a:blip>
              <a:stretch>
                <a:fillRect l="-64047" t="0" r="-64047" b="0"/>
              </a:stretch>
            </a:blipFill>
          </p:spPr>
        </p:sp>
        <p:sp>
          <p:nvSpPr>
            <p:cNvPr name="TextBox 12" id="12"/>
            <p:cNvSpPr txBox="true"/>
            <p:nvPr/>
          </p:nvSpPr>
          <p:spPr>
            <a:xfrm>
              <a:off x="0" y="-9525"/>
              <a:ext cx="822960" cy="741045"/>
            </a:xfrm>
            <a:prstGeom prst="rect">
              <a:avLst/>
            </a:prstGeom>
          </p:spPr>
          <p:txBody>
            <a:bodyPr anchor="ctr" rtlCol="false" tIns="0" lIns="0" bIns="0" rIns="0"/>
            <a:lstStyle/>
            <a:p>
              <a:pPr algn="l">
                <a:lnSpc>
                  <a:spcPts val="3060"/>
                </a:lnSpc>
              </a:pPr>
              <a:r>
                <a:rPr lang="en-US" sz="2550" b="true">
                  <a:solidFill>
                    <a:srgbClr val="44546A"/>
                  </a:solidFill>
                  <a:latin typeface="Cambria Bold"/>
                  <a:ea typeface="Cambria Bold"/>
                  <a:cs typeface="Cambria Bold"/>
                  <a:sym typeface="Cambria Bold"/>
                </a:rPr>
                <a:t>1.</a:t>
              </a:r>
            </a:p>
          </p:txBody>
        </p:sp>
      </p:grpSp>
      <p:grpSp>
        <p:nvGrpSpPr>
          <p:cNvPr name="Group 13" id="13"/>
          <p:cNvGrpSpPr/>
          <p:nvPr/>
        </p:nvGrpSpPr>
        <p:grpSpPr>
          <a:xfrm rot="0">
            <a:off x="2263140" y="3017520"/>
            <a:ext cx="6309360" cy="617220"/>
            <a:chOff x="0" y="0"/>
            <a:chExt cx="8412480" cy="822960"/>
          </a:xfrm>
        </p:grpSpPr>
        <p:sp>
          <p:nvSpPr>
            <p:cNvPr name="Freeform 14" id="14"/>
            <p:cNvSpPr/>
            <p:nvPr/>
          </p:nvSpPr>
          <p:spPr>
            <a:xfrm flipH="false" flipV="false" rot="0">
              <a:off x="0" y="0"/>
              <a:ext cx="8412480" cy="822960"/>
            </a:xfrm>
            <a:custGeom>
              <a:avLst/>
              <a:gdLst/>
              <a:ahLst/>
              <a:cxnLst/>
              <a:rect r="r" b="b" t="t" l="l"/>
              <a:pathLst>
                <a:path h="822960" w="8412480">
                  <a:moveTo>
                    <a:pt x="0" y="0"/>
                  </a:moveTo>
                  <a:lnTo>
                    <a:pt x="8412480" y="0"/>
                  </a:lnTo>
                  <a:lnTo>
                    <a:pt x="8412480" y="822960"/>
                  </a:lnTo>
                  <a:lnTo>
                    <a:pt x="0" y="822960"/>
                  </a:lnTo>
                  <a:close/>
                </a:path>
              </a:pathLst>
            </a:custGeom>
            <a:blipFill>
              <a:blip r:embed="rId3">
                <a:alphaModFix amt="0"/>
              </a:blip>
              <a:stretch>
                <a:fillRect l="0" t="-149180" r="0" b="-149180"/>
              </a:stretch>
            </a:blipFill>
          </p:spPr>
        </p:sp>
        <p:sp>
          <p:nvSpPr>
            <p:cNvPr name="TextBox 15" id="15"/>
            <p:cNvSpPr txBox="true"/>
            <p:nvPr/>
          </p:nvSpPr>
          <p:spPr>
            <a:xfrm>
              <a:off x="0" y="-19050"/>
              <a:ext cx="8412480" cy="842010"/>
            </a:xfrm>
            <a:prstGeom prst="rect">
              <a:avLst/>
            </a:prstGeom>
          </p:spPr>
          <p:txBody>
            <a:bodyPr anchor="ctr" rtlCol="false" tIns="0" lIns="0" bIns="0" rIns="0"/>
            <a:lstStyle/>
            <a:p>
              <a:pPr algn="l">
                <a:lnSpc>
                  <a:spcPts val="2700"/>
                </a:lnSpc>
              </a:pPr>
              <a:r>
                <a:rPr lang="en-US" sz="2250" b="true">
                  <a:solidFill>
                    <a:srgbClr val="1F3864"/>
                  </a:solidFill>
                  <a:latin typeface="Cambria Bold"/>
                  <a:ea typeface="Cambria Bold"/>
                  <a:cs typeface="Cambria Bold"/>
                  <a:sym typeface="Cambria Bold"/>
                </a:rPr>
                <a:t>Cohérence entre développement et validation</a:t>
              </a:r>
            </a:p>
          </p:txBody>
        </p:sp>
      </p:grpSp>
      <p:sp>
        <p:nvSpPr>
          <p:cNvPr name="TextBox 16" id="16"/>
          <p:cNvSpPr txBox="true"/>
          <p:nvPr/>
        </p:nvSpPr>
        <p:spPr>
          <a:xfrm rot="0">
            <a:off x="2263140" y="3677793"/>
            <a:ext cx="6309360" cy="136969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Chaque étape de conception a son test symétrique. Rien n'est développé sans qu'un test soit déjà prévu pour le vérifier.</a:t>
            </a:r>
          </a:p>
        </p:txBody>
      </p:sp>
      <p:grpSp>
        <p:nvGrpSpPr>
          <p:cNvPr name="Group 17" id="17"/>
          <p:cNvGrpSpPr/>
          <p:nvPr/>
        </p:nvGrpSpPr>
        <p:grpSpPr>
          <a:xfrm rot="0">
            <a:off x="9248775" y="2665095"/>
            <a:ext cx="7700010" cy="2625090"/>
            <a:chOff x="0" y="0"/>
            <a:chExt cx="10266680" cy="3500120"/>
          </a:xfrm>
        </p:grpSpPr>
        <p:sp>
          <p:nvSpPr>
            <p:cNvPr name="Freeform 18" id="18"/>
            <p:cNvSpPr/>
            <p:nvPr/>
          </p:nvSpPr>
          <p:spPr>
            <a:xfrm flipH="false" flipV="false" rot="0">
              <a:off x="0" y="0"/>
              <a:ext cx="10266680" cy="3500120"/>
            </a:xfrm>
            <a:custGeom>
              <a:avLst/>
              <a:gdLst/>
              <a:ahLst/>
              <a:cxnLst/>
              <a:rect r="r" b="b" t="t" l="l"/>
              <a:pathLst>
                <a:path h="3500120" w="10266680">
                  <a:moveTo>
                    <a:pt x="0" y="0"/>
                  </a:moveTo>
                  <a:lnTo>
                    <a:pt x="10266680" y="0"/>
                  </a:lnTo>
                  <a:lnTo>
                    <a:pt x="10266680" y="3500120"/>
                  </a:lnTo>
                  <a:lnTo>
                    <a:pt x="0" y="3500120"/>
                  </a:lnTo>
                  <a:close/>
                </a:path>
              </a:pathLst>
            </a:custGeom>
            <a:solidFill>
              <a:srgbClr val="FFFFFF"/>
            </a:solidFill>
            <a:ln w="19050" cap="sq">
              <a:solidFill>
                <a:srgbClr val="C9CFD6"/>
              </a:solidFill>
              <a:prstDash val="solid"/>
              <a:miter/>
            </a:ln>
          </p:spPr>
        </p:sp>
      </p:grpSp>
      <p:grpSp>
        <p:nvGrpSpPr>
          <p:cNvPr name="Group 19" id="19"/>
          <p:cNvGrpSpPr/>
          <p:nvPr/>
        </p:nvGrpSpPr>
        <p:grpSpPr>
          <a:xfrm rot="0">
            <a:off x="9642348" y="3017520"/>
            <a:ext cx="617220" cy="548640"/>
            <a:chOff x="0" y="0"/>
            <a:chExt cx="822960" cy="731520"/>
          </a:xfrm>
        </p:grpSpPr>
        <p:sp>
          <p:nvSpPr>
            <p:cNvPr name="Freeform 20" id="20"/>
            <p:cNvSpPr/>
            <p:nvPr/>
          </p:nvSpPr>
          <p:spPr>
            <a:xfrm flipH="false" flipV="false" rot="0">
              <a:off x="0" y="0"/>
              <a:ext cx="822960" cy="731520"/>
            </a:xfrm>
            <a:custGeom>
              <a:avLst/>
              <a:gdLst/>
              <a:ahLst/>
              <a:cxnLst/>
              <a:rect r="r" b="b" t="t" l="l"/>
              <a:pathLst>
                <a:path h="731520" w="822960">
                  <a:moveTo>
                    <a:pt x="0" y="0"/>
                  </a:moveTo>
                  <a:lnTo>
                    <a:pt x="822960" y="0"/>
                  </a:lnTo>
                  <a:lnTo>
                    <a:pt x="822960" y="731520"/>
                  </a:lnTo>
                  <a:lnTo>
                    <a:pt x="0" y="731520"/>
                  </a:lnTo>
                  <a:close/>
                </a:path>
              </a:pathLst>
            </a:custGeom>
            <a:blipFill>
              <a:blip r:embed="rId3">
                <a:alphaModFix amt="0"/>
              </a:blip>
              <a:stretch>
                <a:fillRect l="-64047" t="0" r="-64047" b="0"/>
              </a:stretch>
            </a:blipFill>
          </p:spPr>
        </p:sp>
        <p:sp>
          <p:nvSpPr>
            <p:cNvPr name="TextBox 21" id="21"/>
            <p:cNvSpPr txBox="true"/>
            <p:nvPr/>
          </p:nvSpPr>
          <p:spPr>
            <a:xfrm>
              <a:off x="0" y="-9525"/>
              <a:ext cx="822960" cy="741045"/>
            </a:xfrm>
            <a:prstGeom prst="rect">
              <a:avLst/>
            </a:prstGeom>
          </p:spPr>
          <p:txBody>
            <a:bodyPr anchor="ctr" rtlCol="false" tIns="0" lIns="0" bIns="0" rIns="0"/>
            <a:lstStyle/>
            <a:p>
              <a:pPr algn="l">
                <a:lnSpc>
                  <a:spcPts val="3060"/>
                </a:lnSpc>
              </a:pPr>
              <a:r>
                <a:rPr lang="en-US" sz="2550" b="true">
                  <a:solidFill>
                    <a:srgbClr val="44546A"/>
                  </a:solidFill>
                  <a:latin typeface="Cambria Bold"/>
                  <a:ea typeface="Cambria Bold"/>
                  <a:cs typeface="Cambria Bold"/>
                  <a:sym typeface="Cambria Bold"/>
                </a:rPr>
                <a:t>2.</a:t>
              </a:r>
            </a:p>
          </p:txBody>
        </p:sp>
      </p:grpSp>
      <p:grpSp>
        <p:nvGrpSpPr>
          <p:cNvPr name="Group 22" id="22"/>
          <p:cNvGrpSpPr/>
          <p:nvPr/>
        </p:nvGrpSpPr>
        <p:grpSpPr>
          <a:xfrm rot="0">
            <a:off x="10287000" y="3017520"/>
            <a:ext cx="6309360" cy="617220"/>
            <a:chOff x="0" y="0"/>
            <a:chExt cx="8412480" cy="822960"/>
          </a:xfrm>
        </p:grpSpPr>
        <p:sp>
          <p:nvSpPr>
            <p:cNvPr name="Freeform 23" id="23"/>
            <p:cNvSpPr/>
            <p:nvPr/>
          </p:nvSpPr>
          <p:spPr>
            <a:xfrm flipH="false" flipV="false" rot="0">
              <a:off x="0" y="0"/>
              <a:ext cx="8412480" cy="822960"/>
            </a:xfrm>
            <a:custGeom>
              <a:avLst/>
              <a:gdLst/>
              <a:ahLst/>
              <a:cxnLst/>
              <a:rect r="r" b="b" t="t" l="l"/>
              <a:pathLst>
                <a:path h="822960" w="8412480">
                  <a:moveTo>
                    <a:pt x="0" y="0"/>
                  </a:moveTo>
                  <a:lnTo>
                    <a:pt x="8412480" y="0"/>
                  </a:lnTo>
                  <a:lnTo>
                    <a:pt x="8412480" y="822960"/>
                  </a:lnTo>
                  <a:lnTo>
                    <a:pt x="0" y="822960"/>
                  </a:lnTo>
                  <a:close/>
                </a:path>
              </a:pathLst>
            </a:custGeom>
            <a:blipFill>
              <a:blip r:embed="rId3">
                <a:alphaModFix amt="0"/>
              </a:blip>
              <a:stretch>
                <a:fillRect l="0" t="-149180" r="0" b="-149180"/>
              </a:stretch>
            </a:blipFill>
          </p:spPr>
        </p:sp>
        <p:sp>
          <p:nvSpPr>
            <p:cNvPr name="TextBox 24" id="24"/>
            <p:cNvSpPr txBox="true"/>
            <p:nvPr/>
          </p:nvSpPr>
          <p:spPr>
            <a:xfrm>
              <a:off x="0" y="-19050"/>
              <a:ext cx="8412480" cy="842010"/>
            </a:xfrm>
            <a:prstGeom prst="rect">
              <a:avLst/>
            </a:prstGeom>
          </p:spPr>
          <p:txBody>
            <a:bodyPr anchor="ctr" rtlCol="false" tIns="0" lIns="0" bIns="0" rIns="0"/>
            <a:lstStyle/>
            <a:p>
              <a:pPr algn="l">
                <a:lnSpc>
                  <a:spcPts val="2700"/>
                </a:lnSpc>
              </a:pPr>
              <a:r>
                <a:rPr lang="en-US" sz="2250" b="true">
                  <a:solidFill>
                    <a:srgbClr val="1F3864"/>
                  </a:solidFill>
                  <a:latin typeface="Cambria Bold"/>
                  <a:ea typeface="Cambria Bold"/>
                  <a:cs typeface="Cambria Bold"/>
                  <a:sym typeface="Cambria Bold"/>
                </a:rPr>
                <a:t>Retour d'information rapide</a:t>
              </a:r>
            </a:p>
          </p:txBody>
        </p:sp>
      </p:grpSp>
      <p:sp>
        <p:nvSpPr>
          <p:cNvPr name="TextBox 25" id="25"/>
          <p:cNvSpPr txBox="true"/>
          <p:nvPr/>
        </p:nvSpPr>
        <p:spPr>
          <a:xfrm rot="0">
            <a:off x="10287000" y="3677793"/>
            <a:ext cx="6309360" cy="136969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Les critères d'acceptation sont définis dès la Spécification : on sait dès le départ à quoi ressemblera la réception du projet.</a:t>
            </a:r>
          </a:p>
        </p:txBody>
      </p:sp>
      <p:grpSp>
        <p:nvGrpSpPr>
          <p:cNvPr name="Group 26" id="26"/>
          <p:cNvGrpSpPr/>
          <p:nvPr/>
        </p:nvGrpSpPr>
        <p:grpSpPr>
          <a:xfrm rot="0">
            <a:off x="1224915" y="5614035"/>
            <a:ext cx="7700010" cy="2625090"/>
            <a:chOff x="0" y="0"/>
            <a:chExt cx="10266680" cy="3500120"/>
          </a:xfrm>
        </p:grpSpPr>
        <p:sp>
          <p:nvSpPr>
            <p:cNvPr name="Freeform 27" id="27"/>
            <p:cNvSpPr/>
            <p:nvPr/>
          </p:nvSpPr>
          <p:spPr>
            <a:xfrm flipH="false" flipV="false" rot="0">
              <a:off x="0" y="0"/>
              <a:ext cx="10266680" cy="3500120"/>
            </a:xfrm>
            <a:custGeom>
              <a:avLst/>
              <a:gdLst/>
              <a:ahLst/>
              <a:cxnLst/>
              <a:rect r="r" b="b" t="t" l="l"/>
              <a:pathLst>
                <a:path h="3500120" w="10266680">
                  <a:moveTo>
                    <a:pt x="0" y="0"/>
                  </a:moveTo>
                  <a:lnTo>
                    <a:pt x="10266680" y="0"/>
                  </a:lnTo>
                  <a:lnTo>
                    <a:pt x="10266680" y="3500120"/>
                  </a:lnTo>
                  <a:lnTo>
                    <a:pt x="0" y="3500120"/>
                  </a:lnTo>
                  <a:close/>
                </a:path>
              </a:pathLst>
            </a:custGeom>
            <a:solidFill>
              <a:srgbClr val="FFFFFF"/>
            </a:solidFill>
            <a:ln w="19050" cap="sq">
              <a:solidFill>
                <a:srgbClr val="C9CFD6"/>
              </a:solidFill>
              <a:prstDash val="solid"/>
              <a:miter/>
            </a:ln>
          </p:spPr>
        </p:sp>
      </p:grpSp>
      <p:grpSp>
        <p:nvGrpSpPr>
          <p:cNvPr name="Group 28" id="28"/>
          <p:cNvGrpSpPr/>
          <p:nvPr/>
        </p:nvGrpSpPr>
        <p:grpSpPr>
          <a:xfrm rot="0">
            <a:off x="1618488" y="5966460"/>
            <a:ext cx="617220" cy="548640"/>
            <a:chOff x="0" y="0"/>
            <a:chExt cx="822960" cy="731520"/>
          </a:xfrm>
        </p:grpSpPr>
        <p:sp>
          <p:nvSpPr>
            <p:cNvPr name="Freeform 29" id="29"/>
            <p:cNvSpPr/>
            <p:nvPr/>
          </p:nvSpPr>
          <p:spPr>
            <a:xfrm flipH="false" flipV="false" rot="0">
              <a:off x="0" y="0"/>
              <a:ext cx="822960" cy="731520"/>
            </a:xfrm>
            <a:custGeom>
              <a:avLst/>
              <a:gdLst/>
              <a:ahLst/>
              <a:cxnLst/>
              <a:rect r="r" b="b" t="t" l="l"/>
              <a:pathLst>
                <a:path h="731520" w="822960">
                  <a:moveTo>
                    <a:pt x="0" y="0"/>
                  </a:moveTo>
                  <a:lnTo>
                    <a:pt x="822960" y="0"/>
                  </a:lnTo>
                  <a:lnTo>
                    <a:pt x="822960" y="731520"/>
                  </a:lnTo>
                  <a:lnTo>
                    <a:pt x="0" y="731520"/>
                  </a:lnTo>
                  <a:close/>
                </a:path>
              </a:pathLst>
            </a:custGeom>
            <a:blipFill>
              <a:blip r:embed="rId3">
                <a:alphaModFix amt="0"/>
              </a:blip>
              <a:stretch>
                <a:fillRect l="-64047" t="0" r="-64047" b="0"/>
              </a:stretch>
            </a:blipFill>
          </p:spPr>
        </p:sp>
        <p:sp>
          <p:nvSpPr>
            <p:cNvPr name="TextBox 30" id="30"/>
            <p:cNvSpPr txBox="true"/>
            <p:nvPr/>
          </p:nvSpPr>
          <p:spPr>
            <a:xfrm>
              <a:off x="0" y="-9525"/>
              <a:ext cx="822960" cy="741045"/>
            </a:xfrm>
            <a:prstGeom prst="rect">
              <a:avLst/>
            </a:prstGeom>
          </p:spPr>
          <p:txBody>
            <a:bodyPr anchor="ctr" rtlCol="false" tIns="0" lIns="0" bIns="0" rIns="0"/>
            <a:lstStyle/>
            <a:p>
              <a:pPr algn="l">
                <a:lnSpc>
                  <a:spcPts val="3060"/>
                </a:lnSpc>
              </a:pPr>
              <a:r>
                <a:rPr lang="en-US" sz="2550" b="true">
                  <a:solidFill>
                    <a:srgbClr val="44546A"/>
                  </a:solidFill>
                  <a:latin typeface="Cambria Bold"/>
                  <a:ea typeface="Cambria Bold"/>
                  <a:cs typeface="Cambria Bold"/>
                  <a:sym typeface="Cambria Bold"/>
                </a:rPr>
                <a:t>3.</a:t>
              </a:r>
            </a:p>
          </p:txBody>
        </p:sp>
      </p:grpSp>
      <p:grpSp>
        <p:nvGrpSpPr>
          <p:cNvPr name="Group 31" id="31"/>
          <p:cNvGrpSpPr/>
          <p:nvPr/>
        </p:nvGrpSpPr>
        <p:grpSpPr>
          <a:xfrm rot="0">
            <a:off x="2263140" y="5966460"/>
            <a:ext cx="6309360" cy="617220"/>
            <a:chOff x="0" y="0"/>
            <a:chExt cx="8412480" cy="822960"/>
          </a:xfrm>
        </p:grpSpPr>
        <p:sp>
          <p:nvSpPr>
            <p:cNvPr name="Freeform 32" id="32"/>
            <p:cNvSpPr/>
            <p:nvPr/>
          </p:nvSpPr>
          <p:spPr>
            <a:xfrm flipH="false" flipV="false" rot="0">
              <a:off x="0" y="0"/>
              <a:ext cx="8412480" cy="822960"/>
            </a:xfrm>
            <a:custGeom>
              <a:avLst/>
              <a:gdLst/>
              <a:ahLst/>
              <a:cxnLst/>
              <a:rect r="r" b="b" t="t" l="l"/>
              <a:pathLst>
                <a:path h="822960" w="8412480">
                  <a:moveTo>
                    <a:pt x="0" y="0"/>
                  </a:moveTo>
                  <a:lnTo>
                    <a:pt x="8412480" y="0"/>
                  </a:lnTo>
                  <a:lnTo>
                    <a:pt x="8412480" y="822960"/>
                  </a:lnTo>
                  <a:lnTo>
                    <a:pt x="0" y="822960"/>
                  </a:lnTo>
                  <a:close/>
                </a:path>
              </a:pathLst>
            </a:custGeom>
            <a:blipFill>
              <a:blip r:embed="rId3">
                <a:alphaModFix amt="0"/>
              </a:blip>
              <a:stretch>
                <a:fillRect l="0" t="-149180" r="0" b="-149180"/>
              </a:stretch>
            </a:blipFill>
          </p:spPr>
        </p:sp>
        <p:sp>
          <p:nvSpPr>
            <p:cNvPr name="TextBox 33" id="33"/>
            <p:cNvSpPr txBox="true"/>
            <p:nvPr/>
          </p:nvSpPr>
          <p:spPr>
            <a:xfrm>
              <a:off x="0" y="-19050"/>
              <a:ext cx="8412480" cy="842010"/>
            </a:xfrm>
            <a:prstGeom prst="rect">
              <a:avLst/>
            </a:prstGeom>
          </p:spPr>
          <p:txBody>
            <a:bodyPr anchor="ctr" rtlCol="false" tIns="0" lIns="0" bIns="0" rIns="0"/>
            <a:lstStyle/>
            <a:p>
              <a:pPr algn="l">
                <a:lnSpc>
                  <a:spcPts val="2700"/>
                </a:lnSpc>
              </a:pPr>
              <a:r>
                <a:rPr lang="en-US" sz="2250" b="true">
                  <a:solidFill>
                    <a:srgbClr val="1F3864"/>
                  </a:solidFill>
                  <a:latin typeface="Cambria Bold"/>
                  <a:ea typeface="Cambria Bold"/>
                  <a:cs typeface="Cambria Bold"/>
                  <a:sym typeface="Cambria Bold"/>
                </a:rPr>
                <a:t>Traçabilité du besoin au livrable</a:t>
              </a:r>
            </a:p>
          </p:txBody>
        </p:sp>
      </p:grpSp>
      <p:sp>
        <p:nvSpPr>
          <p:cNvPr name="TextBox 34" id="34"/>
          <p:cNvSpPr txBox="true"/>
          <p:nvPr/>
        </p:nvSpPr>
        <p:spPr>
          <a:xfrm rot="0">
            <a:off x="2263140" y="6626733"/>
            <a:ext cx="6309360" cy="136969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Chaque exigence est reliée à une conception, un test et un critère de recette. Rien ne peut être oublié en cours de route.</a:t>
            </a:r>
          </a:p>
        </p:txBody>
      </p:sp>
      <p:grpSp>
        <p:nvGrpSpPr>
          <p:cNvPr name="Group 35" id="35"/>
          <p:cNvGrpSpPr/>
          <p:nvPr/>
        </p:nvGrpSpPr>
        <p:grpSpPr>
          <a:xfrm rot="0">
            <a:off x="9248775" y="5614035"/>
            <a:ext cx="7700010" cy="2625090"/>
            <a:chOff x="0" y="0"/>
            <a:chExt cx="10266680" cy="3500120"/>
          </a:xfrm>
        </p:grpSpPr>
        <p:sp>
          <p:nvSpPr>
            <p:cNvPr name="Freeform 36" id="36"/>
            <p:cNvSpPr/>
            <p:nvPr/>
          </p:nvSpPr>
          <p:spPr>
            <a:xfrm flipH="false" flipV="false" rot="0">
              <a:off x="0" y="0"/>
              <a:ext cx="10266680" cy="3500120"/>
            </a:xfrm>
            <a:custGeom>
              <a:avLst/>
              <a:gdLst/>
              <a:ahLst/>
              <a:cxnLst/>
              <a:rect r="r" b="b" t="t" l="l"/>
              <a:pathLst>
                <a:path h="3500120" w="10266680">
                  <a:moveTo>
                    <a:pt x="0" y="0"/>
                  </a:moveTo>
                  <a:lnTo>
                    <a:pt x="10266680" y="0"/>
                  </a:lnTo>
                  <a:lnTo>
                    <a:pt x="10266680" y="3500120"/>
                  </a:lnTo>
                  <a:lnTo>
                    <a:pt x="0" y="3500120"/>
                  </a:lnTo>
                  <a:close/>
                </a:path>
              </a:pathLst>
            </a:custGeom>
            <a:solidFill>
              <a:srgbClr val="FFFFFF"/>
            </a:solidFill>
            <a:ln w="19050" cap="sq">
              <a:solidFill>
                <a:srgbClr val="C9CFD6"/>
              </a:solidFill>
              <a:prstDash val="solid"/>
              <a:miter/>
            </a:ln>
          </p:spPr>
        </p:sp>
      </p:grpSp>
      <p:grpSp>
        <p:nvGrpSpPr>
          <p:cNvPr name="Group 37" id="37"/>
          <p:cNvGrpSpPr/>
          <p:nvPr/>
        </p:nvGrpSpPr>
        <p:grpSpPr>
          <a:xfrm rot="0">
            <a:off x="9642348" y="5966460"/>
            <a:ext cx="617220" cy="548640"/>
            <a:chOff x="0" y="0"/>
            <a:chExt cx="822960" cy="731520"/>
          </a:xfrm>
        </p:grpSpPr>
        <p:sp>
          <p:nvSpPr>
            <p:cNvPr name="Freeform 38" id="38"/>
            <p:cNvSpPr/>
            <p:nvPr/>
          </p:nvSpPr>
          <p:spPr>
            <a:xfrm flipH="false" flipV="false" rot="0">
              <a:off x="0" y="0"/>
              <a:ext cx="822960" cy="731520"/>
            </a:xfrm>
            <a:custGeom>
              <a:avLst/>
              <a:gdLst/>
              <a:ahLst/>
              <a:cxnLst/>
              <a:rect r="r" b="b" t="t" l="l"/>
              <a:pathLst>
                <a:path h="731520" w="822960">
                  <a:moveTo>
                    <a:pt x="0" y="0"/>
                  </a:moveTo>
                  <a:lnTo>
                    <a:pt x="822960" y="0"/>
                  </a:lnTo>
                  <a:lnTo>
                    <a:pt x="822960" y="731520"/>
                  </a:lnTo>
                  <a:lnTo>
                    <a:pt x="0" y="731520"/>
                  </a:lnTo>
                  <a:close/>
                </a:path>
              </a:pathLst>
            </a:custGeom>
            <a:blipFill>
              <a:blip r:embed="rId3">
                <a:alphaModFix amt="0"/>
              </a:blip>
              <a:stretch>
                <a:fillRect l="-64047" t="0" r="-64047" b="0"/>
              </a:stretch>
            </a:blipFill>
          </p:spPr>
        </p:sp>
        <p:sp>
          <p:nvSpPr>
            <p:cNvPr name="TextBox 39" id="39"/>
            <p:cNvSpPr txBox="true"/>
            <p:nvPr/>
          </p:nvSpPr>
          <p:spPr>
            <a:xfrm>
              <a:off x="0" y="-9525"/>
              <a:ext cx="822960" cy="741045"/>
            </a:xfrm>
            <a:prstGeom prst="rect">
              <a:avLst/>
            </a:prstGeom>
          </p:spPr>
          <p:txBody>
            <a:bodyPr anchor="ctr" rtlCol="false" tIns="0" lIns="0" bIns="0" rIns="0"/>
            <a:lstStyle/>
            <a:p>
              <a:pPr algn="l">
                <a:lnSpc>
                  <a:spcPts val="3060"/>
                </a:lnSpc>
              </a:pPr>
              <a:r>
                <a:rPr lang="en-US" sz="2550" b="true">
                  <a:solidFill>
                    <a:srgbClr val="44546A"/>
                  </a:solidFill>
                  <a:latin typeface="Cambria Bold"/>
                  <a:ea typeface="Cambria Bold"/>
                  <a:cs typeface="Cambria Bold"/>
                  <a:sym typeface="Cambria Bold"/>
                </a:rPr>
                <a:t>4.</a:t>
              </a:r>
            </a:p>
          </p:txBody>
        </p:sp>
      </p:grpSp>
      <p:grpSp>
        <p:nvGrpSpPr>
          <p:cNvPr name="Group 40" id="40"/>
          <p:cNvGrpSpPr/>
          <p:nvPr/>
        </p:nvGrpSpPr>
        <p:grpSpPr>
          <a:xfrm rot="0">
            <a:off x="10287000" y="5966460"/>
            <a:ext cx="6309360" cy="617220"/>
            <a:chOff x="0" y="0"/>
            <a:chExt cx="8412480" cy="822960"/>
          </a:xfrm>
        </p:grpSpPr>
        <p:sp>
          <p:nvSpPr>
            <p:cNvPr name="Freeform 41" id="41"/>
            <p:cNvSpPr/>
            <p:nvPr/>
          </p:nvSpPr>
          <p:spPr>
            <a:xfrm flipH="false" flipV="false" rot="0">
              <a:off x="0" y="0"/>
              <a:ext cx="8412480" cy="822960"/>
            </a:xfrm>
            <a:custGeom>
              <a:avLst/>
              <a:gdLst/>
              <a:ahLst/>
              <a:cxnLst/>
              <a:rect r="r" b="b" t="t" l="l"/>
              <a:pathLst>
                <a:path h="822960" w="8412480">
                  <a:moveTo>
                    <a:pt x="0" y="0"/>
                  </a:moveTo>
                  <a:lnTo>
                    <a:pt x="8412480" y="0"/>
                  </a:lnTo>
                  <a:lnTo>
                    <a:pt x="8412480" y="822960"/>
                  </a:lnTo>
                  <a:lnTo>
                    <a:pt x="0" y="822960"/>
                  </a:lnTo>
                  <a:close/>
                </a:path>
              </a:pathLst>
            </a:custGeom>
            <a:blipFill>
              <a:blip r:embed="rId3">
                <a:alphaModFix amt="0"/>
              </a:blip>
              <a:stretch>
                <a:fillRect l="0" t="-149180" r="0" b="-149180"/>
              </a:stretch>
            </a:blipFill>
          </p:spPr>
        </p:sp>
        <p:sp>
          <p:nvSpPr>
            <p:cNvPr name="TextBox 42" id="42"/>
            <p:cNvSpPr txBox="true"/>
            <p:nvPr/>
          </p:nvSpPr>
          <p:spPr>
            <a:xfrm>
              <a:off x="0" y="-19050"/>
              <a:ext cx="8412480" cy="842010"/>
            </a:xfrm>
            <a:prstGeom prst="rect">
              <a:avLst/>
            </a:prstGeom>
          </p:spPr>
          <p:txBody>
            <a:bodyPr anchor="ctr" rtlCol="false" tIns="0" lIns="0" bIns="0" rIns="0"/>
            <a:lstStyle/>
            <a:p>
              <a:pPr algn="l">
                <a:lnSpc>
                  <a:spcPts val="2700"/>
                </a:lnSpc>
              </a:pPr>
              <a:r>
                <a:rPr lang="en-US" sz="2250" b="true">
                  <a:solidFill>
                    <a:srgbClr val="1F3864"/>
                  </a:solidFill>
                  <a:latin typeface="Cambria Bold"/>
                  <a:ea typeface="Cambria Bold"/>
                  <a:cs typeface="Cambria Bold"/>
                  <a:sym typeface="Cambria Bold"/>
                </a:rPr>
                <a:t>Maîtrise du risque</a:t>
              </a:r>
            </a:p>
          </p:txBody>
        </p:sp>
      </p:grpSp>
      <p:sp>
        <p:nvSpPr>
          <p:cNvPr name="TextBox 43" id="43"/>
          <p:cNvSpPr txBox="true"/>
          <p:nvPr/>
        </p:nvSpPr>
        <p:spPr>
          <a:xfrm rot="0">
            <a:off x="10287000" y="6626733"/>
            <a:ext cx="6309360" cy="136969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Les exigences de sécurité sont figées dès la Spécification et validées explicitement, sans improvisation.</a:t>
            </a:r>
          </a:p>
        </p:txBody>
      </p:sp>
      <p:grpSp>
        <p:nvGrpSpPr>
          <p:cNvPr name="Group 44" id="44"/>
          <p:cNvGrpSpPr/>
          <p:nvPr/>
        </p:nvGrpSpPr>
        <p:grpSpPr>
          <a:xfrm rot="0">
            <a:off x="1234440" y="9436608"/>
            <a:ext cx="15773400" cy="411480"/>
            <a:chOff x="0" y="0"/>
            <a:chExt cx="21031200" cy="548640"/>
          </a:xfrm>
        </p:grpSpPr>
        <p:sp>
          <p:nvSpPr>
            <p:cNvPr name="Freeform 45" id="45"/>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46" id="46"/>
            <p:cNvSpPr txBox="true"/>
            <p:nvPr/>
          </p:nvSpPr>
          <p:spPr>
            <a:xfrm>
              <a:off x="0" y="-38100"/>
              <a:ext cx="21031200" cy="586740"/>
            </a:xfrm>
            <a:prstGeom prst="rect">
              <a:avLst/>
            </a:prstGeom>
          </p:spPr>
          <p:txBody>
            <a:bodyPr anchor="ctr" rtlCol="false" tIns="0" lIns="0" bIns="0" rIns="0"/>
            <a:lstStyle/>
            <a:p>
              <a:pPr algn="l">
                <a:lnSpc>
                  <a:spcPts val="1800"/>
                </a:lnSpc>
              </a:pPr>
              <a:r>
                <a:rPr lang="en-US" sz="1500" i="true">
                  <a:solidFill>
                    <a:srgbClr val="7A8595"/>
                  </a:solidFill>
                  <a:latin typeface="Calibri (MS) Italics"/>
                  <a:ea typeface="Calibri (MS) Italics"/>
                  <a:cs typeface="Calibri (MS) Italics"/>
                  <a:sym typeface="Calibri (MS) Italics"/>
                </a:rPr>
                <a:t>Une méthode qui structure autant le développement que la vérification.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440" y="685800"/>
            <a:ext cx="15773400" cy="411480"/>
            <a:chOff x="0" y="0"/>
            <a:chExt cx="21031200" cy="548640"/>
          </a:xfrm>
        </p:grpSpPr>
        <p:sp>
          <p:nvSpPr>
            <p:cNvPr name="Freeform 3" id="3"/>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4" id="4"/>
            <p:cNvSpPr txBox="true"/>
            <p:nvPr/>
          </p:nvSpPr>
          <p:spPr>
            <a:xfrm>
              <a:off x="0" y="-38100"/>
              <a:ext cx="21031200" cy="586740"/>
            </a:xfrm>
            <a:prstGeom prst="rect">
              <a:avLst/>
            </a:prstGeom>
          </p:spPr>
          <p:txBody>
            <a:bodyPr anchor="ctr" rtlCol="false" tIns="0" lIns="0" bIns="0" rIns="0"/>
            <a:lstStyle/>
            <a:p>
              <a:pPr algn="l">
                <a:lnSpc>
                  <a:spcPts val="2070"/>
                </a:lnSpc>
              </a:pPr>
              <a:r>
                <a:rPr lang="en-US" sz="1725" spc="239">
                  <a:solidFill>
                    <a:srgbClr val="44546A"/>
                  </a:solidFill>
                  <a:latin typeface="Calibri (MS)"/>
                  <a:ea typeface="Calibri (MS)"/>
                  <a:cs typeface="Calibri (MS)"/>
                  <a:sym typeface="Calibri (MS)"/>
                </a:rPr>
                <a:t>STRUCTURE DE LA MÉTHODE</a:t>
              </a:r>
            </a:p>
          </p:txBody>
        </p:sp>
      </p:grpSp>
      <p:grpSp>
        <p:nvGrpSpPr>
          <p:cNvPr name="Group 5" id="5"/>
          <p:cNvGrpSpPr/>
          <p:nvPr/>
        </p:nvGrpSpPr>
        <p:grpSpPr>
          <a:xfrm rot="0">
            <a:off x="123444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F3864"/>
                  </a:solidFill>
                  <a:latin typeface="Cambria Bold"/>
                  <a:ea typeface="Cambria Bold"/>
                  <a:cs typeface="Cambria Bold"/>
                  <a:sym typeface="Cambria Bold"/>
                </a:rPr>
                <a:t>Les neuf étapes du Cycle en V</a:t>
              </a:r>
            </a:p>
          </p:txBody>
        </p:sp>
      </p:grpSp>
      <p:grpSp>
        <p:nvGrpSpPr>
          <p:cNvPr name="Group 8" id="8"/>
          <p:cNvGrpSpPr/>
          <p:nvPr/>
        </p:nvGrpSpPr>
        <p:grpSpPr>
          <a:xfrm rot="0">
            <a:off x="754380" y="2400300"/>
            <a:ext cx="16733520" cy="7228332"/>
            <a:chOff x="0" y="0"/>
            <a:chExt cx="22311360" cy="9637776"/>
          </a:xfrm>
        </p:grpSpPr>
        <p:sp>
          <p:nvSpPr>
            <p:cNvPr name="Freeform 9" id="9" descr="cycle_v.png"/>
            <p:cNvSpPr/>
            <p:nvPr/>
          </p:nvSpPr>
          <p:spPr>
            <a:xfrm flipH="false" flipV="false" rot="0">
              <a:off x="0" y="0"/>
              <a:ext cx="22311361" cy="9637776"/>
            </a:xfrm>
            <a:custGeom>
              <a:avLst/>
              <a:gdLst/>
              <a:ahLst/>
              <a:cxnLst/>
              <a:rect r="r" b="b" t="t" l="l"/>
              <a:pathLst>
                <a:path h="9637776" w="22311361">
                  <a:moveTo>
                    <a:pt x="0" y="0"/>
                  </a:moveTo>
                  <a:lnTo>
                    <a:pt x="22311361" y="0"/>
                  </a:lnTo>
                  <a:lnTo>
                    <a:pt x="22311361" y="9637776"/>
                  </a:lnTo>
                  <a:lnTo>
                    <a:pt x="0" y="9637776"/>
                  </a:lnTo>
                  <a:lnTo>
                    <a:pt x="0" y="0"/>
                  </a:lnTo>
                  <a:close/>
                </a:path>
              </a:pathLst>
            </a:custGeom>
            <a:blipFill>
              <a:blip r:embed="rId4"/>
              <a:stretch>
                <a:fillRect l="-17" t="0" r="-17"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440" y="685800"/>
            <a:ext cx="15773400" cy="411480"/>
            <a:chOff x="0" y="0"/>
            <a:chExt cx="21031200" cy="548640"/>
          </a:xfrm>
        </p:grpSpPr>
        <p:sp>
          <p:nvSpPr>
            <p:cNvPr name="Freeform 3" id="3"/>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4" id="4"/>
            <p:cNvSpPr txBox="true"/>
            <p:nvPr/>
          </p:nvSpPr>
          <p:spPr>
            <a:xfrm>
              <a:off x="0" y="-38100"/>
              <a:ext cx="21031200" cy="586740"/>
            </a:xfrm>
            <a:prstGeom prst="rect">
              <a:avLst/>
            </a:prstGeom>
          </p:spPr>
          <p:txBody>
            <a:bodyPr anchor="ctr" rtlCol="false" tIns="0" lIns="0" bIns="0" rIns="0"/>
            <a:lstStyle/>
            <a:p>
              <a:pPr algn="l">
                <a:lnSpc>
                  <a:spcPts val="2070"/>
                </a:lnSpc>
              </a:pPr>
              <a:r>
                <a:rPr lang="en-US" sz="1725" spc="239">
                  <a:solidFill>
                    <a:srgbClr val="44546A"/>
                  </a:solidFill>
                  <a:latin typeface="Calibri (MS)"/>
                  <a:ea typeface="Calibri (MS)"/>
                  <a:cs typeface="Calibri (MS)"/>
                  <a:sym typeface="Calibri (MS)"/>
                </a:rPr>
                <a:t>LE PRINCIPE CLÉ</a:t>
              </a:r>
            </a:p>
          </p:txBody>
        </p:sp>
      </p:grpSp>
      <p:grpSp>
        <p:nvGrpSpPr>
          <p:cNvPr name="Group 5" id="5"/>
          <p:cNvGrpSpPr/>
          <p:nvPr/>
        </p:nvGrpSpPr>
        <p:grpSpPr>
          <a:xfrm rot="0">
            <a:off x="123444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F3864"/>
                  </a:solidFill>
                  <a:latin typeface="Cambria Bold"/>
                  <a:ea typeface="Cambria Bold"/>
                  <a:cs typeface="Cambria Bold"/>
                  <a:sym typeface="Cambria Bold"/>
                </a:rPr>
                <a:t>Chaque conception a son test</a:t>
              </a:r>
            </a:p>
          </p:txBody>
        </p:sp>
      </p:grpSp>
      <p:grpSp>
        <p:nvGrpSpPr>
          <p:cNvPr name="Group 8" id="8"/>
          <p:cNvGrpSpPr/>
          <p:nvPr/>
        </p:nvGrpSpPr>
        <p:grpSpPr>
          <a:xfrm rot="0">
            <a:off x="1224915" y="2665095"/>
            <a:ext cx="15792450" cy="1322070"/>
            <a:chOff x="0" y="0"/>
            <a:chExt cx="21056600" cy="1762760"/>
          </a:xfrm>
        </p:grpSpPr>
        <p:sp>
          <p:nvSpPr>
            <p:cNvPr name="Freeform 9" id="9"/>
            <p:cNvSpPr/>
            <p:nvPr/>
          </p:nvSpPr>
          <p:spPr>
            <a:xfrm flipH="false" flipV="false" rot="0">
              <a:off x="0" y="0"/>
              <a:ext cx="21056600" cy="1762760"/>
            </a:xfrm>
            <a:custGeom>
              <a:avLst/>
              <a:gdLst/>
              <a:ahLst/>
              <a:cxnLst/>
              <a:rect r="r" b="b" t="t" l="l"/>
              <a:pathLst>
                <a:path h="1762760" w="21056600">
                  <a:moveTo>
                    <a:pt x="0" y="0"/>
                  </a:moveTo>
                  <a:lnTo>
                    <a:pt x="21056600" y="0"/>
                  </a:lnTo>
                  <a:lnTo>
                    <a:pt x="21056600" y="1762760"/>
                  </a:lnTo>
                  <a:lnTo>
                    <a:pt x="0" y="1762760"/>
                  </a:lnTo>
                  <a:close/>
                </a:path>
              </a:pathLst>
            </a:custGeom>
            <a:solidFill>
              <a:srgbClr val="F2F4F7"/>
            </a:solidFill>
            <a:ln w="19050" cap="sq">
              <a:solidFill>
                <a:srgbClr val="C9CFD6"/>
              </a:solidFill>
              <a:prstDash val="solid"/>
              <a:miter/>
            </a:ln>
          </p:spPr>
        </p:sp>
      </p:grpSp>
      <p:grpSp>
        <p:nvGrpSpPr>
          <p:cNvPr name="Group 10" id="10"/>
          <p:cNvGrpSpPr/>
          <p:nvPr/>
        </p:nvGrpSpPr>
        <p:grpSpPr>
          <a:xfrm rot="0">
            <a:off x="1645920" y="2811780"/>
            <a:ext cx="4526280" cy="1028700"/>
            <a:chOff x="0" y="0"/>
            <a:chExt cx="6035040" cy="1371600"/>
          </a:xfrm>
        </p:grpSpPr>
        <p:sp>
          <p:nvSpPr>
            <p:cNvPr name="Freeform 11" id="11"/>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3">
                <a:alphaModFix amt="0"/>
              </a:blip>
              <a:stretch>
                <a:fillRect l="0" t="-35734" r="0" b="-35734"/>
              </a:stretch>
            </a:blipFill>
          </p:spPr>
        </p:sp>
        <p:sp>
          <p:nvSpPr>
            <p:cNvPr name="TextBox 12" id="12"/>
            <p:cNvSpPr txBox="true"/>
            <p:nvPr/>
          </p:nvSpPr>
          <p:spPr>
            <a:xfrm>
              <a:off x="0" y="-9525"/>
              <a:ext cx="603504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Définition des besoins</a:t>
              </a:r>
            </a:p>
          </p:txBody>
        </p:sp>
      </p:grpSp>
      <p:sp>
        <p:nvSpPr>
          <p:cNvPr name="AutoShape 13" id="13"/>
          <p:cNvSpPr/>
          <p:nvPr/>
        </p:nvSpPr>
        <p:spPr>
          <a:xfrm>
            <a:off x="6295069" y="3311847"/>
            <a:ext cx="849912" cy="14283"/>
          </a:xfrm>
          <a:prstGeom prst="line">
            <a:avLst/>
          </a:prstGeom>
          <a:ln cap="rnd" w="19050">
            <a:solidFill>
              <a:srgbClr val="44546A"/>
            </a:solidFill>
            <a:prstDash val="solid"/>
            <a:headEnd type="none" len="sm" w="sm"/>
            <a:tailEnd type="triangle" len="med" w="lg"/>
          </a:ln>
        </p:spPr>
      </p:sp>
      <p:grpSp>
        <p:nvGrpSpPr>
          <p:cNvPr name="Group 14" id="14"/>
          <p:cNvGrpSpPr/>
          <p:nvPr/>
        </p:nvGrpSpPr>
        <p:grpSpPr>
          <a:xfrm rot="0">
            <a:off x="7475220" y="2811780"/>
            <a:ext cx="3566160" cy="1028700"/>
            <a:chOff x="0" y="0"/>
            <a:chExt cx="4754880" cy="1371600"/>
          </a:xfrm>
        </p:grpSpPr>
        <p:sp>
          <p:nvSpPr>
            <p:cNvPr name="Freeform 15" id="15"/>
            <p:cNvSpPr/>
            <p:nvPr/>
          </p:nvSpPr>
          <p:spPr>
            <a:xfrm flipH="false" flipV="false" rot="0">
              <a:off x="0" y="0"/>
              <a:ext cx="4754880" cy="1371600"/>
            </a:xfrm>
            <a:custGeom>
              <a:avLst/>
              <a:gdLst/>
              <a:ahLst/>
              <a:cxnLst/>
              <a:rect r="r" b="b" t="t" l="l"/>
              <a:pathLst>
                <a:path h="1371600" w="4754880">
                  <a:moveTo>
                    <a:pt x="0" y="0"/>
                  </a:moveTo>
                  <a:lnTo>
                    <a:pt x="4754880" y="0"/>
                  </a:lnTo>
                  <a:lnTo>
                    <a:pt x="4754880" y="1371600"/>
                  </a:lnTo>
                  <a:lnTo>
                    <a:pt x="0" y="1371600"/>
                  </a:lnTo>
                  <a:close/>
                </a:path>
              </a:pathLst>
            </a:custGeom>
            <a:blipFill>
              <a:blip r:embed="rId3">
                <a:alphaModFix amt="0"/>
              </a:blip>
              <a:stretch>
                <a:fillRect l="0" t="-17548" r="0" b="-17548"/>
              </a:stretch>
            </a:blipFill>
          </p:spPr>
        </p:sp>
        <p:sp>
          <p:nvSpPr>
            <p:cNvPr name="TextBox 16" id="16"/>
            <p:cNvSpPr txBox="true"/>
            <p:nvPr/>
          </p:nvSpPr>
          <p:spPr>
            <a:xfrm>
              <a:off x="0" y="-9525"/>
              <a:ext cx="475488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Recette</a:t>
              </a:r>
            </a:p>
          </p:txBody>
        </p:sp>
      </p:grpSp>
      <p:grpSp>
        <p:nvGrpSpPr>
          <p:cNvPr name="Group 17" id="17"/>
          <p:cNvGrpSpPr/>
          <p:nvPr/>
        </p:nvGrpSpPr>
        <p:grpSpPr>
          <a:xfrm rot="0">
            <a:off x="11109960" y="2811780"/>
            <a:ext cx="5554980" cy="1028700"/>
            <a:chOff x="0" y="0"/>
            <a:chExt cx="7406640" cy="1371600"/>
          </a:xfrm>
        </p:grpSpPr>
        <p:sp>
          <p:nvSpPr>
            <p:cNvPr name="Freeform 18" id="18"/>
            <p:cNvSpPr/>
            <p:nvPr/>
          </p:nvSpPr>
          <p:spPr>
            <a:xfrm flipH="false" flipV="false" rot="0">
              <a:off x="0" y="0"/>
              <a:ext cx="7406640" cy="1371600"/>
            </a:xfrm>
            <a:custGeom>
              <a:avLst/>
              <a:gdLst/>
              <a:ahLst/>
              <a:cxnLst/>
              <a:rect r="r" b="b" t="t" l="l"/>
              <a:pathLst>
                <a:path h="1371600" w="7406640">
                  <a:moveTo>
                    <a:pt x="0" y="0"/>
                  </a:moveTo>
                  <a:lnTo>
                    <a:pt x="7406640" y="0"/>
                  </a:lnTo>
                  <a:lnTo>
                    <a:pt x="7406640" y="1371600"/>
                  </a:lnTo>
                  <a:lnTo>
                    <a:pt x="0" y="1371600"/>
                  </a:lnTo>
                  <a:close/>
                </a:path>
              </a:pathLst>
            </a:custGeom>
            <a:blipFill>
              <a:blip r:embed="rId3">
                <a:alphaModFix amt="0"/>
              </a:blip>
              <a:stretch>
                <a:fillRect l="0" t="-55219" r="0" b="-55219"/>
              </a:stretch>
            </a:blipFill>
          </p:spPr>
        </p:sp>
        <p:sp>
          <p:nvSpPr>
            <p:cNvPr name="TextBox 19" id="19"/>
            <p:cNvSpPr txBox="true"/>
            <p:nvPr/>
          </p:nvSpPr>
          <p:spPr>
            <a:xfrm>
              <a:off x="0" y="-38100"/>
              <a:ext cx="7406640" cy="1409700"/>
            </a:xfrm>
            <a:prstGeom prst="rect">
              <a:avLst/>
            </a:prstGeom>
          </p:spPr>
          <p:txBody>
            <a:bodyPr anchor="ctr" rtlCol="false" tIns="0" lIns="0" bIns="0" rIns="0"/>
            <a:lstStyle/>
            <a:p>
              <a:pPr algn="l">
                <a:lnSpc>
                  <a:spcPts val="2070"/>
                </a:lnSpc>
              </a:pPr>
              <a:r>
                <a:rPr lang="en-US" sz="1725">
                  <a:solidFill>
                    <a:srgbClr val="262626"/>
                  </a:solidFill>
                  <a:latin typeface="Calibri (MS)"/>
                  <a:ea typeface="Calibri (MS)"/>
                  <a:cs typeface="Calibri (MS)"/>
                  <a:sym typeface="Calibri (MS)"/>
                </a:rPr>
                <a:t>Le produit livré correspond-il au besoin exprimé au départ ?</a:t>
              </a:r>
            </a:p>
          </p:txBody>
        </p:sp>
      </p:grpSp>
      <p:grpSp>
        <p:nvGrpSpPr>
          <p:cNvPr name="Group 20" id="20"/>
          <p:cNvGrpSpPr/>
          <p:nvPr/>
        </p:nvGrpSpPr>
        <p:grpSpPr>
          <a:xfrm rot="0">
            <a:off x="1224915" y="4201287"/>
            <a:ext cx="15792450" cy="1322070"/>
            <a:chOff x="0" y="0"/>
            <a:chExt cx="21056600" cy="1762760"/>
          </a:xfrm>
        </p:grpSpPr>
        <p:sp>
          <p:nvSpPr>
            <p:cNvPr name="Freeform 21" id="21"/>
            <p:cNvSpPr/>
            <p:nvPr/>
          </p:nvSpPr>
          <p:spPr>
            <a:xfrm flipH="false" flipV="false" rot="0">
              <a:off x="0" y="0"/>
              <a:ext cx="21056600" cy="1762760"/>
            </a:xfrm>
            <a:custGeom>
              <a:avLst/>
              <a:gdLst/>
              <a:ahLst/>
              <a:cxnLst/>
              <a:rect r="r" b="b" t="t" l="l"/>
              <a:pathLst>
                <a:path h="1762760" w="21056600">
                  <a:moveTo>
                    <a:pt x="0" y="0"/>
                  </a:moveTo>
                  <a:lnTo>
                    <a:pt x="21056600" y="0"/>
                  </a:lnTo>
                  <a:lnTo>
                    <a:pt x="21056600" y="1762760"/>
                  </a:lnTo>
                  <a:lnTo>
                    <a:pt x="0" y="1762760"/>
                  </a:lnTo>
                  <a:close/>
                </a:path>
              </a:pathLst>
            </a:custGeom>
            <a:solidFill>
              <a:srgbClr val="FFFFFF"/>
            </a:solidFill>
            <a:ln w="19050" cap="sq">
              <a:solidFill>
                <a:srgbClr val="C9CFD6"/>
              </a:solidFill>
              <a:prstDash val="solid"/>
              <a:miter/>
            </a:ln>
          </p:spPr>
        </p:sp>
      </p:grpSp>
      <p:grpSp>
        <p:nvGrpSpPr>
          <p:cNvPr name="Group 22" id="22"/>
          <p:cNvGrpSpPr/>
          <p:nvPr/>
        </p:nvGrpSpPr>
        <p:grpSpPr>
          <a:xfrm rot="0">
            <a:off x="1645920" y="4347972"/>
            <a:ext cx="4526280" cy="1028700"/>
            <a:chOff x="0" y="0"/>
            <a:chExt cx="6035040" cy="1371600"/>
          </a:xfrm>
        </p:grpSpPr>
        <p:sp>
          <p:nvSpPr>
            <p:cNvPr name="Freeform 23" id="23"/>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3">
                <a:alphaModFix amt="0"/>
              </a:blip>
              <a:stretch>
                <a:fillRect l="0" t="-35734" r="0" b="-35734"/>
              </a:stretch>
            </a:blipFill>
          </p:spPr>
        </p:sp>
        <p:sp>
          <p:nvSpPr>
            <p:cNvPr name="TextBox 24" id="24"/>
            <p:cNvSpPr txBox="true"/>
            <p:nvPr/>
          </p:nvSpPr>
          <p:spPr>
            <a:xfrm>
              <a:off x="0" y="-9525"/>
              <a:ext cx="603504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Spécification</a:t>
              </a:r>
            </a:p>
          </p:txBody>
        </p:sp>
      </p:grpSp>
      <p:sp>
        <p:nvSpPr>
          <p:cNvPr name="AutoShape 25" id="25"/>
          <p:cNvSpPr/>
          <p:nvPr/>
        </p:nvSpPr>
        <p:spPr>
          <a:xfrm>
            <a:off x="6295069" y="4848039"/>
            <a:ext cx="849912" cy="14283"/>
          </a:xfrm>
          <a:prstGeom prst="line">
            <a:avLst/>
          </a:prstGeom>
          <a:ln cap="rnd" w="19050">
            <a:solidFill>
              <a:srgbClr val="44546A"/>
            </a:solidFill>
            <a:prstDash val="solid"/>
            <a:headEnd type="none" len="sm" w="sm"/>
            <a:tailEnd type="triangle" len="med" w="lg"/>
          </a:ln>
        </p:spPr>
      </p:sp>
      <p:grpSp>
        <p:nvGrpSpPr>
          <p:cNvPr name="Group 26" id="26"/>
          <p:cNvGrpSpPr/>
          <p:nvPr/>
        </p:nvGrpSpPr>
        <p:grpSpPr>
          <a:xfrm rot="0">
            <a:off x="7475220" y="4347972"/>
            <a:ext cx="3566160" cy="1028700"/>
            <a:chOff x="0" y="0"/>
            <a:chExt cx="4754880" cy="1371600"/>
          </a:xfrm>
        </p:grpSpPr>
        <p:sp>
          <p:nvSpPr>
            <p:cNvPr name="Freeform 27" id="27"/>
            <p:cNvSpPr/>
            <p:nvPr/>
          </p:nvSpPr>
          <p:spPr>
            <a:xfrm flipH="false" flipV="false" rot="0">
              <a:off x="0" y="0"/>
              <a:ext cx="4754880" cy="1371600"/>
            </a:xfrm>
            <a:custGeom>
              <a:avLst/>
              <a:gdLst/>
              <a:ahLst/>
              <a:cxnLst/>
              <a:rect r="r" b="b" t="t" l="l"/>
              <a:pathLst>
                <a:path h="1371600" w="4754880">
                  <a:moveTo>
                    <a:pt x="0" y="0"/>
                  </a:moveTo>
                  <a:lnTo>
                    <a:pt x="4754880" y="0"/>
                  </a:lnTo>
                  <a:lnTo>
                    <a:pt x="4754880" y="1371600"/>
                  </a:lnTo>
                  <a:lnTo>
                    <a:pt x="0" y="1371600"/>
                  </a:lnTo>
                  <a:close/>
                </a:path>
              </a:pathLst>
            </a:custGeom>
            <a:blipFill>
              <a:blip r:embed="rId3">
                <a:alphaModFix amt="0"/>
              </a:blip>
              <a:stretch>
                <a:fillRect l="0" t="-17548" r="0" b="-17548"/>
              </a:stretch>
            </a:blipFill>
          </p:spPr>
        </p:sp>
        <p:sp>
          <p:nvSpPr>
            <p:cNvPr name="TextBox 28" id="28"/>
            <p:cNvSpPr txBox="true"/>
            <p:nvPr/>
          </p:nvSpPr>
          <p:spPr>
            <a:xfrm>
              <a:off x="0" y="-9525"/>
              <a:ext cx="475488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Validation</a:t>
              </a:r>
            </a:p>
          </p:txBody>
        </p:sp>
      </p:grpSp>
      <p:grpSp>
        <p:nvGrpSpPr>
          <p:cNvPr name="Group 29" id="29"/>
          <p:cNvGrpSpPr/>
          <p:nvPr/>
        </p:nvGrpSpPr>
        <p:grpSpPr>
          <a:xfrm rot="0">
            <a:off x="11109960" y="4347972"/>
            <a:ext cx="5554980" cy="1028700"/>
            <a:chOff x="0" y="0"/>
            <a:chExt cx="7406640" cy="1371600"/>
          </a:xfrm>
        </p:grpSpPr>
        <p:sp>
          <p:nvSpPr>
            <p:cNvPr name="Freeform 30" id="30"/>
            <p:cNvSpPr/>
            <p:nvPr/>
          </p:nvSpPr>
          <p:spPr>
            <a:xfrm flipH="false" flipV="false" rot="0">
              <a:off x="0" y="0"/>
              <a:ext cx="7406640" cy="1371600"/>
            </a:xfrm>
            <a:custGeom>
              <a:avLst/>
              <a:gdLst/>
              <a:ahLst/>
              <a:cxnLst/>
              <a:rect r="r" b="b" t="t" l="l"/>
              <a:pathLst>
                <a:path h="1371600" w="7406640">
                  <a:moveTo>
                    <a:pt x="0" y="0"/>
                  </a:moveTo>
                  <a:lnTo>
                    <a:pt x="7406640" y="0"/>
                  </a:lnTo>
                  <a:lnTo>
                    <a:pt x="7406640" y="1371600"/>
                  </a:lnTo>
                  <a:lnTo>
                    <a:pt x="0" y="1371600"/>
                  </a:lnTo>
                  <a:close/>
                </a:path>
              </a:pathLst>
            </a:custGeom>
            <a:blipFill>
              <a:blip r:embed="rId3">
                <a:alphaModFix amt="0"/>
              </a:blip>
              <a:stretch>
                <a:fillRect l="0" t="-55219" r="0" b="-55219"/>
              </a:stretch>
            </a:blipFill>
          </p:spPr>
        </p:sp>
        <p:sp>
          <p:nvSpPr>
            <p:cNvPr name="TextBox 31" id="31"/>
            <p:cNvSpPr txBox="true"/>
            <p:nvPr/>
          </p:nvSpPr>
          <p:spPr>
            <a:xfrm>
              <a:off x="0" y="-38100"/>
              <a:ext cx="7406640" cy="1409700"/>
            </a:xfrm>
            <a:prstGeom prst="rect">
              <a:avLst/>
            </a:prstGeom>
          </p:spPr>
          <p:txBody>
            <a:bodyPr anchor="ctr" rtlCol="false" tIns="0" lIns="0" bIns="0" rIns="0"/>
            <a:lstStyle/>
            <a:p>
              <a:pPr algn="l">
                <a:lnSpc>
                  <a:spcPts val="2070"/>
                </a:lnSpc>
              </a:pPr>
              <a:r>
                <a:rPr lang="en-US" sz="1725">
                  <a:solidFill>
                    <a:srgbClr val="262626"/>
                  </a:solidFill>
                  <a:latin typeface="Calibri (MS)"/>
                  <a:ea typeface="Calibri (MS)"/>
                  <a:cs typeface="Calibri (MS)"/>
                  <a:sym typeface="Calibri (MS)"/>
                </a:rPr>
                <a:t>Chaque exigence du cahier des charges est-elle satisfaite ?</a:t>
              </a:r>
            </a:p>
          </p:txBody>
        </p:sp>
      </p:grpSp>
      <p:grpSp>
        <p:nvGrpSpPr>
          <p:cNvPr name="Group 32" id="32"/>
          <p:cNvGrpSpPr/>
          <p:nvPr/>
        </p:nvGrpSpPr>
        <p:grpSpPr>
          <a:xfrm rot="0">
            <a:off x="1224915" y="5737479"/>
            <a:ext cx="15792450" cy="1322070"/>
            <a:chOff x="0" y="0"/>
            <a:chExt cx="21056600" cy="1762760"/>
          </a:xfrm>
        </p:grpSpPr>
        <p:sp>
          <p:nvSpPr>
            <p:cNvPr name="Freeform 33" id="33"/>
            <p:cNvSpPr/>
            <p:nvPr/>
          </p:nvSpPr>
          <p:spPr>
            <a:xfrm flipH="false" flipV="false" rot="0">
              <a:off x="0" y="0"/>
              <a:ext cx="21056600" cy="1762760"/>
            </a:xfrm>
            <a:custGeom>
              <a:avLst/>
              <a:gdLst/>
              <a:ahLst/>
              <a:cxnLst/>
              <a:rect r="r" b="b" t="t" l="l"/>
              <a:pathLst>
                <a:path h="1762760" w="21056600">
                  <a:moveTo>
                    <a:pt x="0" y="0"/>
                  </a:moveTo>
                  <a:lnTo>
                    <a:pt x="21056600" y="0"/>
                  </a:lnTo>
                  <a:lnTo>
                    <a:pt x="21056600" y="1762760"/>
                  </a:lnTo>
                  <a:lnTo>
                    <a:pt x="0" y="1762760"/>
                  </a:lnTo>
                  <a:close/>
                </a:path>
              </a:pathLst>
            </a:custGeom>
            <a:solidFill>
              <a:srgbClr val="F2F4F7"/>
            </a:solidFill>
            <a:ln w="19050" cap="sq">
              <a:solidFill>
                <a:srgbClr val="C9CFD6"/>
              </a:solidFill>
              <a:prstDash val="solid"/>
              <a:miter/>
            </a:ln>
          </p:spPr>
        </p:sp>
      </p:grpSp>
      <p:grpSp>
        <p:nvGrpSpPr>
          <p:cNvPr name="Group 34" id="34"/>
          <p:cNvGrpSpPr/>
          <p:nvPr/>
        </p:nvGrpSpPr>
        <p:grpSpPr>
          <a:xfrm rot="0">
            <a:off x="1645920" y="5884164"/>
            <a:ext cx="4526280" cy="1028700"/>
            <a:chOff x="0" y="0"/>
            <a:chExt cx="6035040" cy="1371600"/>
          </a:xfrm>
        </p:grpSpPr>
        <p:sp>
          <p:nvSpPr>
            <p:cNvPr name="Freeform 35" id="35"/>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3">
                <a:alphaModFix amt="0"/>
              </a:blip>
              <a:stretch>
                <a:fillRect l="0" t="-35734" r="0" b="-35734"/>
              </a:stretch>
            </a:blipFill>
          </p:spPr>
        </p:sp>
        <p:sp>
          <p:nvSpPr>
            <p:cNvPr name="TextBox 36" id="36"/>
            <p:cNvSpPr txBox="true"/>
            <p:nvPr/>
          </p:nvSpPr>
          <p:spPr>
            <a:xfrm>
              <a:off x="0" y="-9525"/>
              <a:ext cx="603504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Conception générale</a:t>
              </a:r>
            </a:p>
          </p:txBody>
        </p:sp>
      </p:grpSp>
      <p:sp>
        <p:nvSpPr>
          <p:cNvPr name="AutoShape 37" id="37"/>
          <p:cNvSpPr/>
          <p:nvPr/>
        </p:nvSpPr>
        <p:spPr>
          <a:xfrm>
            <a:off x="6295069" y="6384231"/>
            <a:ext cx="849912" cy="14283"/>
          </a:xfrm>
          <a:prstGeom prst="line">
            <a:avLst/>
          </a:prstGeom>
          <a:ln cap="rnd" w="19050">
            <a:solidFill>
              <a:srgbClr val="44546A"/>
            </a:solidFill>
            <a:prstDash val="solid"/>
            <a:headEnd type="none" len="sm" w="sm"/>
            <a:tailEnd type="triangle" len="med" w="lg"/>
          </a:ln>
        </p:spPr>
      </p:sp>
      <p:grpSp>
        <p:nvGrpSpPr>
          <p:cNvPr name="Group 38" id="38"/>
          <p:cNvGrpSpPr/>
          <p:nvPr/>
        </p:nvGrpSpPr>
        <p:grpSpPr>
          <a:xfrm rot="0">
            <a:off x="7475220" y="5884164"/>
            <a:ext cx="3566160" cy="1028700"/>
            <a:chOff x="0" y="0"/>
            <a:chExt cx="4754880" cy="1371600"/>
          </a:xfrm>
        </p:grpSpPr>
        <p:sp>
          <p:nvSpPr>
            <p:cNvPr name="Freeform 39" id="39"/>
            <p:cNvSpPr/>
            <p:nvPr/>
          </p:nvSpPr>
          <p:spPr>
            <a:xfrm flipH="false" flipV="false" rot="0">
              <a:off x="0" y="0"/>
              <a:ext cx="4754880" cy="1371600"/>
            </a:xfrm>
            <a:custGeom>
              <a:avLst/>
              <a:gdLst/>
              <a:ahLst/>
              <a:cxnLst/>
              <a:rect r="r" b="b" t="t" l="l"/>
              <a:pathLst>
                <a:path h="1371600" w="4754880">
                  <a:moveTo>
                    <a:pt x="0" y="0"/>
                  </a:moveTo>
                  <a:lnTo>
                    <a:pt x="4754880" y="0"/>
                  </a:lnTo>
                  <a:lnTo>
                    <a:pt x="4754880" y="1371600"/>
                  </a:lnTo>
                  <a:lnTo>
                    <a:pt x="0" y="1371600"/>
                  </a:lnTo>
                  <a:close/>
                </a:path>
              </a:pathLst>
            </a:custGeom>
            <a:blipFill>
              <a:blip r:embed="rId3">
                <a:alphaModFix amt="0"/>
              </a:blip>
              <a:stretch>
                <a:fillRect l="0" t="-17548" r="0" b="-17548"/>
              </a:stretch>
            </a:blipFill>
          </p:spPr>
        </p:sp>
        <p:sp>
          <p:nvSpPr>
            <p:cNvPr name="TextBox 40" id="40"/>
            <p:cNvSpPr txBox="true"/>
            <p:nvPr/>
          </p:nvSpPr>
          <p:spPr>
            <a:xfrm>
              <a:off x="0" y="-9525"/>
              <a:ext cx="475488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Tests d'intégration</a:t>
              </a:r>
            </a:p>
          </p:txBody>
        </p:sp>
      </p:grpSp>
      <p:grpSp>
        <p:nvGrpSpPr>
          <p:cNvPr name="Group 41" id="41"/>
          <p:cNvGrpSpPr/>
          <p:nvPr/>
        </p:nvGrpSpPr>
        <p:grpSpPr>
          <a:xfrm rot="0">
            <a:off x="11109960" y="5884164"/>
            <a:ext cx="5671712" cy="1028700"/>
            <a:chOff x="0" y="0"/>
            <a:chExt cx="7562283" cy="1371600"/>
          </a:xfrm>
        </p:grpSpPr>
        <p:sp>
          <p:nvSpPr>
            <p:cNvPr name="Freeform 42" id="42"/>
            <p:cNvSpPr/>
            <p:nvPr/>
          </p:nvSpPr>
          <p:spPr>
            <a:xfrm flipH="false" flipV="false" rot="0">
              <a:off x="0" y="0"/>
              <a:ext cx="7562283" cy="1371600"/>
            </a:xfrm>
            <a:custGeom>
              <a:avLst/>
              <a:gdLst/>
              <a:ahLst/>
              <a:cxnLst/>
              <a:rect r="r" b="b" t="t" l="l"/>
              <a:pathLst>
                <a:path h="1371600" w="7562283">
                  <a:moveTo>
                    <a:pt x="0" y="0"/>
                  </a:moveTo>
                  <a:lnTo>
                    <a:pt x="7562283" y="0"/>
                  </a:lnTo>
                  <a:lnTo>
                    <a:pt x="7562283" y="1371600"/>
                  </a:lnTo>
                  <a:lnTo>
                    <a:pt x="0" y="1371600"/>
                  </a:lnTo>
                  <a:close/>
                </a:path>
              </a:pathLst>
            </a:custGeom>
            <a:blipFill>
              <a:blip r:embed="rId3">
                <a:alphaModFix amt="0"/>
              </a:blip>
              <a:stretch>
                <a:fillRect l="0" t="-55219" r="2058" b="-55219"/>
              </a:stretch>
            </a:blipFill>
          </p:spPr>
        </p:sp>
        <p:sp>
          <p:nvSpPr>
            <p:cNvPr name="TextBox 43" id="43"/>
            <p:cNvSpPr txBox="true"/>
            <p:nvPr/>
          </p:nvSpPr>
          <p:spPr>
            <a:xfrm>
              <a:off x="0" y="-38100"/>
              <a:ext cx="7562283" cy="1409700"/>
            </a:xfrm>
            <a:prstGeom prst="rect">
              <a:avLst/>
            </a:prstGeom>
          </p:spPr>
          <p:txBody>
            <a:bodyPr anchor="ctr" rtlCol="false" tIns="0" lIns="0" bIns="0" rIns="0"/>
            <a:lstStyle/>
            <a:p>
              <a:pPr algn="l">
                <a:lnSpc>
                  <a:spcPts val="2070"/>
                </a:lnSpc>
              </a:pPr>
              <a:r>
                <a:rPr lang="en-US" sz="1725">
                  <a:solidFill>
                    <a:srgbClr val="262626"/>
                  </a:solidFill>
                  <a:latin typeface="Calibri (MS)"/>
                  <a:ea typeface="Calibri (MS)"/>
                  <a:cs typeface="Calibri (MS)"/>
                  <a:sym typeface="Calibri (MS)"/>
                </a:rPr>
                <a:t>Les blocs du système fonctionnent-ils correctement ensemble ?</a:t>
              </a:r>
            </a:p>
          </p:txBody>
        </p:sp>
      </p:grpSp>
      <p:grpSp>
        <p:nvGrpSpPr>
          <p:cNvPr name="Group 44" id="44"/>
          <p:cNvGrpSpPr/>
          <p:nvPr/>
        </p:nvGrpSpPr>
        <p:grpSpPr>
          <a:xfrm rot="0">
            <a:off x="1224915" y="7273671"/>
            <a:ext cx="15792450" cy="1322070"/>
            <a:chOff x="0" y="0"/>
            <a:chExt cx="21056600" cy="1762760"/>
          </a:xfrm>
        </p:grpSpPr>
        <p:sp>
          <p:nvSpPr>
            <p:cNvPr name="Freeform 45" id="45"/>
            <p:cNvSpPr/>
            <p:nvPr/>
          </p:nvSpPr>
          <p:spPr>
            <a:xfrm flipH="false" flipV="false" rot="0">
              <a:off x="0" y="0"/>
              <a:ext cx="21056600" cy="1762760"/>
            </a:xfrm>
            <a:custGeom>
              <a:avLst/>
              <a:gdLst/>
              <a:ahLst/>
              <a:cxnLst/>
              <a:rect r="r" b="b" t="t" l="l"/>
              <a:pathLst>
                <a:path h="1762760" w="21056600">
                  <a:moveTo>
                    <a:pt x="0" y="0"/>
                  </a:moveTo>
                  <a:lnTo>
                    <a:pt x="21056600" y="0"/>
                  </a:lnTo>
                  <a:lnTo>
                    <a:pt x="21056600" y="1762760"/>
                  </a:lnTo>
                  <a:lnTo>
                    <a:pt x="0" y="1762760"/>
                  </a:lnTo>
                  <a:close/>
                </a:path>
              </a:pathLst>
            </a:custGeom>
            <a:solidFill>
              <a:srgbClr val="FFFFFF"/>
            </a:solidFill>
            <a:ln w="19050" cap="sq">
              <a:solidFill>
                <a:srgbClr val="C9CFD6"/>
              </a:solidFill>
              <a:prstDash val="solid"/>
              <a:miter/>
            </a:ln>
          </p:spPr>
        </p:sp>
      </p:grpSp>
      <p:grpSp>
        <p:nvGrpSpPr>
          <p:cNvPr name="Group 46" id="46"/>
          <p:cNvGrpSpPr/>
          <p:nvPr/>
        </p:nvGrpSpPr>
        <p:grpSpPr>
          <a:xfrm rot="0">
            <a:off x="1645920" y="7420356"/>
            <a:ext cx="4526280" cy="1028700"/>
            <a:chOff x="0" y="0"/>
            <a:chExt cx="6035040" cy="1371600"/>
          </a:xfrm>
        </p:grpSpPr>
        <p:sp>
          <p:nvSpPr>
            <p:cNvPr name="Freeform 47" id="47"/>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3">
                <a:alphaModFix amt="0"/>
              </a:blip>
              <a:stretch>
                <a:fillRect l="0" t="-35734" r="0" b="-35734"/>
              </a:stretch>
            </a:blipFill>
          </p:spPr>
        </p:sp>
        <p:sp>
          <p:nvSpPr>
            <p:cNvPr name="TextBox 48" id="48"/>
            <p:cNvSpPr txBox="true"/>
            <p:nvPr/>
          </p:nvSpPr>
          <p:spPr>
            <a:xfrm>
              <a:off x="0" y="-9525"/>
              <a:ext cx="603504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Conception détaillée</a:t>
              </a:r>
            </a:p>
          </p:txBody>
        </p:sp>
      </p:grpSp>
      <p:sp>
        <p:nvSpPr>
          <p:cNvPr name="AutoShape 49" id="49"/>
          <p:cNvSpPr/>
          <p:nvPr/>
        </p:nvSpPr>
        <p:spPr>
          <a:xfrm>
            <a:off x="6295069" y="7920423"/>
            <a:ext cx="849912" cy="14283"/>
          </a:xfrm>
          <a:prstGeom prst="line">
            <a:avLst/>
          </a:prstGeom>
          <a:ln cap="rnd" w="19050">
            <a:solidFill>
              <a:srgbClr val="44546A"/>
            </a:solidFill>
            <a:prstDash val="solid"/>
            <a:headEnd type="none" len="sm" w="sm"/>
            <a:tailEnd type="triangle" len="med" w="lg"/>
          </a:ln>
        </p:spPr>
      </p:sp>
      <p:grpSp>
        <p:nvGrpSpPr>
          <p:cNvPr name="Group 50" id="50"/>
          <p:cNvGrpSpPr/>
          <p:nvPr/>
        </p:nvGrpSpPr>
        <p:grpSpPr>
          <a:xfrm rot="0">
            <a:off x="7475220" y="7420356"/>
            <a:ext cx="3566160" cy="1028700"/>
            <a:chOff x="0" y="0"/>
            <a:chExt cx="4754880" cy="1371600"/>
          </a:xfrm>
        </p:grpSpPr>
        <p:sp>
          <p:nvSpPr>
            <p:cNvPr name="Freeform 51" id="51"/>
            <p:cNvSpPr/>
            <p:nvPr/>
          </p:nvSpPr>
          <p:spPr>
            <a:xfrm flipH="false" flipV="false" rot="0">
              <a:off x="0" y="0"/>
              <a:ext cx="4754880" cy="1371600"/>
            </a:xfrm>
            <a:custGeom>
              <a:avLst/>
              <a:gdLst/>
              <a:ahLst/>
              <a:cxnLst/>
              <a:rect r="r" b="b" t="t" l="l"/>
              <a:pathLst>
                <a:path h="1371600" w="4754880">
                  <a:moveTo>
                    <a:pt x="0" y="0"/>
                  </a:moveTo>
                  <a:lnTo>
                    <a:pt x="4754880" y="0"/>
                  </a:lnTo>
                  <a:lnTo>
                    <a:pt x="4754880" y="1371600"/>
                  </a:lnTo>
                  <a:lnTo>
                    <a:pt x="0" y="1371600"/>
                  </a:lnTo>
                  <a:close/>
                </a:path>
              </a:pathLst>
            </a:custGeom>
            <a:blipFill>
              <a:blip r:embed="rId3">
                <a:alphaModFix amt="0"/>
              </a:blip>
              <a:stretch>
                <a:fillRect l="0" t="-17548" r="0" b="-17548"/>
              </a:stretch>
            </a:blipFill>
          </p:spPr>
        </p:sp>
        <p:sp>
          <p:nvSpPr>
            <p:cNvPr name="TextBox 52" id="52"/>
            <p:cNvSpPr txBox="true"/>
            <p:nvPr/>
          </p:nvSpPr>
          <p:spPr>
            <a:xfrm>
              <a:off x="0" y="-9525"/>
              <a:ext cx="4754880" cy="1381125"/>
            </a:xfrm>
            <a:prstGeom prst="rect">
              <a:avLst/>
            </a:prstGeom>
          </p:spPr>
          <p:txBody>
            <a:bodyPr anchor="ctr" rtlCol="false" tIns="0" lIns="0" bIns="0" rIns="0"/>
            <a:lstStyle/>
            <a:p>
              <a:pPr algn="l">
                <a:lnSpc>
                  <a:spcPts val="2430"/>
                </a:lnSpc>
              </a:pPr>
              <a:r>
                <a:rPr lang="en-US" sz="2025" b="true">
                  <a:solidFill>
                    <a:srgbClr val="1F3864"/>
                  </a:solidFill>
                  <a:latin typeface="Cambria Bold"/>
                  <a:ea typeface="Cambria Bold"/>
                  <a:cs typeface="Cambria Bold"/>
                  <a:sym typeface="Cambria Bold"/>
                </a:rPr>
                <a:t>Tests unitaires</a:t>
              </a:r>
            </a:p>
          </p:txBody>
        </p:sp>
      </p:grpSp>
      <p:grpSp>
        <p:nvGrpSpPr>
          <p:cNvPr name="Group 53" id="53"/>
          <p:cNvGrpSpPr/>
          <p:nvPr/>
        </p:nvGrpSpPr>
        <p:grpSpPr>
          <a:xfrm rot="0">
            <a:off x="11109960" y="7420356"/>
            <a:ext cx="5671712" cy="1028700"/>
            <a:chOff x="0" y="0"/>
            <a:chExt cx="7562283" cy="1371600"/>
          </a:xfrm>
        </p:grpSpPr>
        <p:sp>
          <p:nvSpPr>
            <p:cNvPr name="Freeform 54" id="54"/>
            <p:cNvSpPr/>
            <p:nvPr/>
          </p:nvSpPr>
          <p:spPr>
            <a:xfrm flipH="false" flipV="false" rot="0">
              <a:off x="0" y="0"/>
              <a:ext cx="7562283" cy="1371600"/>
            </a:xfrm>
            <a:custGeom>
              <a:avLst/>
              <a:gdLst/>
              <a:ahLst/>
              <a:cxnLst/>
              <a:rect r="r" b="b" t="t" l="l"/>
              <a:pathLst>
                <a:path h="1371600" w="7562283">
                  <a:moveTo>
                    <a:pt x="0" y="0"/>
                  </a:moveTo>
                  <a:lnTo>
                    <a:pt x="7562283" y="0"/>
                  </a:lnTo>
                  <a:lnTo>
                    <a:pt x="7562283" y="1371600"/>
                  </a:lnTo>
                  <a:lnTo>
                    <a:pt x="0" y="1371600"/>
                  </a:lnTo>
                  <a:close/>
                </a:path>
              </a:pathLst>
            </a:custGeom>
            <a:blipFill>
              <a:blip r:embed="rId3">
                <a:alphaModFix amt="0"/>
              </a:blip>
              <a:stretch>
                <a:fillRect l="0" t="-55219" r="2058" b="-55219"/>
              </a:stretch>
            </a:blipFill>
          </p:spPr>
        </p:sp>
        <p:sp>
          <p:nvSpPr>
            <p:cNvPr name="TextBox 55" id="55"/>
            <p:cNvSpPr txBox="true"/>
            <p:nvPr/>
          </p:nvSpPr>
          <p:spPr>
            <a:xfrm>
              <a:off x="0" y="-38100"/>
              <a:ext cx="7562283" cy="1409700"/>
            </a:xfrm>
            <a:prstGeom prst="rect">
              <a:avLst/>
            </a:prstGeom>
          </p:spPr>
          <p:txBody>
            <a:bodyPr anchor="ctr" rtlCol="false" tIns="0" lIns="0" bIns="0" rIns="0"/>
            <a:lstStyle/>
            <a:p>
              <a:pPr algn="l">
                <a:lnSpc>
                  <a:spcPts val="2070"/>
                </a:lnSpc>
              </a:pPr>
              <a:r>
                <a:rPr lang="en-US" sz="1725">
                  <a:solidFill>
                    <a:srgbClr val="262626"/>
                  </a:solidFill>
                  <a:latin typeface="Calibri (MS)"/>
                  <a:ea typeface="Calibri (MS)"/>
                  <a:cs typeface="Calibri (MS)"/>
                  <a:sym typeface="Calibri (MS)"/>
                </a:rPr>
                <a:t>Chaque composant fait-il correctement son travail ?</a:t>
              </a:r>
            </a:p>
          </p:txBody>
        </p:sp>
      </p:grpSp>
      <p:grpSp>
        <p:nvGrpSpPr>
          <p:cNvPr name="Group 56" id="56"/>
          <p:cNvGrpSpPr/>
          <p:nvPr/>
        </p:nvGrpSpPr>
        <p:grpSpPr>
          <a:xfrm rot="0">
            <a:off x="1234440" y="9436608"/>
            <a:ext cx="15773400" cy="411480"/>
            <a:chOff x="0" y="0"/>
            <a:chExt cx="21031200" cy="548640"/>
          </a:xfrm>
        </p:grpSpPr>
        <p:sp>
          <p:nvSpPr>
            <p:cNvPr name="Freeform 57" id="57"/>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58" id="58"/>
            <p:cNvSpPr txBox="true"/>
            <p:nvPr/>
          </p:nvSpPr>
          <p:spPr>
            <a:xfrm>
              <a:off x="0" y="-38100"/>
              <a:ext cx="21031200" cy="586740"/>
            </a:xfrm>
            <a:prstGeom prst="rect">
              <a:avLst/>
            </a:prstGeom>
          </p:spPr>
          <p:txBody>
            <a:bodyPr anchor="ctr" rtlCol="false" tIns="0" lIns="0" bIns="0" rIns="0"/>
            <a:lstStyle/>
            <a:p>
              <a:pPr algn="l">
                <a:lnSpc>
                  <a:spcPts val="1800"/>
                </a:lnSpc>
              </a:pPr>
              <a:r>
                <a:rPr lang="en-US" sz="1500" i="true">
                  <a:solidFill>
                    <a:srgbClr val="7A8595"/>
                  </a:solidFill>
                  <a:latin typeface="Calibri (MS) Italics"/>
                  <a:ea typeface="Calibri (MS) Italics"/>
                  <a:cs typeface="Calibri (MS) Italics"/>
                  <a:sym typeface="Calibri (MS) Italics"/>
                </a:rPr>
                <a:t>Aucune phase de conception ne reste sans vérification correspondante.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440" y="685800"/>
            <a:ext cx="15773400" cy="411480"/>
            <a:chOff x="0" y="0"/>
            <a:chExt cx="21031200" cy="548640"/>
          </a:xfrm>
        </p:grpSpPr>
        <p:sp>
          <p:nvSpPr>
            <p:cNvPr name="Freeform 3" id="3"/>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4" id="4"/>
            <p:cNvSpPr txBox="true"/>
            <p:nvPr/>
          </p:nvSpPr>
          <p:spPr>
            <a:xfrm>
              <a:off x="0" y="-38100"/>
              <a:ext cx="21031200" cy="586740"/>
            </a:xfrm>
            <a:prstGeom prst="rect">
              <a:avLst/>
            </a:prstGeom>
          </p:spPr>
          <p:txBody>
            <a:bodyPr anchor="ctr" rtlCol="false" tIns="0" lIns="0" bIns="0" rIns="0"/>
            <a:lstStyle/>
            <a:p>
              <a:pPr algn="l">
                <a:lnSpc>
                  <a:spcPts val="2070"/>
                </a:lnSpc>
              </a:pPr>
              <a:r>
                <a:rPr lang="en-US" sz="1725" spc="239">
                  <a:solidFill>
                    <a:srgbClr val="44546A"/>
                  </a:solidFill>
                  <a:latin typeface="Calibri (MS)"/>
                  <a:ea typeface="Calibri (MS)"/>
                  <a:cs typeface="Calibri (MS)"/>
                  <a:sym typeface="Calibri (MS)"/>
                </a:rPr>
                <a:t>CE QUE LA DIRECTION REÇOIT</a:t>
              </a:r>
            </a:p>
          </p:txBody>
        </p:sp>
      </p:grpSp>
      <p:grpSp>
        <p:nvGrpSpPr>
          <p:cNvPr name="Group 5" id="5"/>
          <p:cNvGrpSpPr/>
          <p:nvPr/>
        </p:nvGrpSpPr>
        <p:grpSpPr>
          <a:xfrm rot="0">
            <a:off x="123444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F3864"/>
                  </a:solidFill>
                  <a:latin typeface="Cambria Bold"/>
                  <a:ea typeface="Cambria Bold"/>
                  <a:cs typeface="Cambria Bold"/>
                  <a:sym typeface="Cambria Bold"/>
                </a:rPr>
                <a:t>Un livrable à chaque étape</a:t>
              </a:r>
            </a:p>
          </p:txBody>
        </p:sp>
      </p:grpSp>
      <p:grpSp>
        <p:nvGrpSpPr>
          <p:cNvPr name="Group 8" id="8"/>
          <p:cNvGrpSpPr/>
          <p:nvPr/>
        </p:nvGrpSpPr>
        <p:grpSpPr>
          <a:xfrm rot="0">
            <a:off x="1234440" y="2537460"/>
            <a:ext cx="15773400" cy="617220"/>
            <a:chOff x="0" y="0"/>
            <a:chExt cx="21031200" cy="822960"/>
          </a:xfrm>
        </p:grpSpPr>
        <p:sp>
          <p:nvSpPr>
            <p:cNvPr name="Freeform 9" id="9"/>
            <p:cNvSpPr/>
            <p:nvPr/>
          </p:nvSpPr>
          <p:spPr>
            <a:xfrm flipH="false" flipV="false" rot="0">
              <a:off x="0" y="0"/>
              <a:ext cx="21031200" cy="822960"/>
            </a:xfrm>
            <a:custGeom>
              <a:avLst/>
              <a:gdLst/>
              <a:ahLst/>
              <a:cxnLst/>
              <a:rect r="r" b="b" t="t" l="l"/>
              <a:pathLst>
                <a:path h="822960" w="21031200">
                  <a:moveTo>
                    <a:pt x="0" y="0"/>
                  </a:moveTo>
                  <a:lnTo>
                    <a:pt x="21031200" y="0"/>
                  </a:lnTo>
                  <a:lnTo>
                    <a:pt x="21031200" y="822960"/>
                  </a:lnTo>
                  <a:lnTo>
                    <a:pt x="0" y="822960"/>
                  </a:lnTo>
                  <a:close/>
                </a:path>
              </a:pathLst>
            </a:custGeom>
            <a:blipFill>
              <a:blip r:embed="rId3">
                <a:alphaModFix amt="0"/>
              </a:blip>
              <a:stretch>
                <a:fillRect l="0" t="-447950" r="0" b="-447950"/>
              </a:stretch>
            </a:blipFill>
          </p:spPr>
        </p:sp>
        <p:sp>
          <p:nvSpPr>
            <p:cNvPr name="TextBox 10" id="10"/>
            <p:cNvSpPr txBox="true"/>
            <p:nvPr/>
          </p:nvSpPr>
          <p:spPr>
            <a:xfrm>
              <a:off x="0" y="-38100"/>
              <a:ext cx="21031200" cy="861060"/>
            </a:xfrm>
            <a:prstGeom prst="rect">
              <a:avLst/>
            </a:prstGeom>
          </p:spPr>
          <p:txBody>
            <a:bodyPr anchor="ctr" rtlCol="false" tIns="0" lIns="0" bIns="0" rIns="0"/>
            <a:lstStyle/>
            <a:p>
              <a:pPr algn="l">
                <a:lnSpc>
                  <a:spcPts val="2430"/>
                </a:lnSpc>
              </a:pPr>
              <a:r>
                <a:rPr lang="en-US" sz="2025">
                  <a:solidFill>
                    <a:srgbClr val="262626"/>
                  </a:solidFill>
                  <a:latin typeface="Calibri (MS)"/>
                  <a:ea typeface="Calibri (MS)"/>
                  <a:cs typeface="Calibri (MS)"/>
                  <a:sym typeface="Calibri (MS)"/>
                </a:rPr>
                <a:t>Aucune phase ne s'achève sans production tangible. Chaque livrable est un point de contrôle sur l'avancement réel du projet.</a:t>
              </a:r>
            </a:p>
          </p:txBody>
        </p:sp>
      </p:grpSp>
      <p:graphicFrame>
        <p:nvGraphicFramePr>
          <p:cNvPr name="Table 11" id="11"/>
          <p:cNvGraphicFramePr>
            <a:graphicFrameLocks noGrp="true"/>
          </p:cNvGraphicFramePr>
          <p:nvPr/>
        </p:nvGraphicFramePr>
        <p:xfrm>
          <a:off x="1234440" y="3360420"/>
          <a:ext cx="15754350" cy="5143500"/>
        </p:xfrm>
        <a:graphic>
          <a:graphicData uri="http://schemas.openxmlformats.org/drawingml/2006/table">
            <a:tbl>
              <a:tblPr/>
              <a:tblGrid>
                <a:gridCol w="5763971"/>
                <a:gridCol w="9990379"/>
              </a:tblGrid>
              <a:tr h="5715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Phase</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1F3864"/>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Livrable produit</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1F3864"/>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Définition des besoins</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Compte-rendu d'entretien et note de cadrage</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Spécification</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Cahier des charges et critères d'acceptation</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Conception générale</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Schéma d'architecture et choix techniques justifiés</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Conception détaillée</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Configuration, machines à états, plan des automatisations</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Réalisation</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Firmware flashé, plateforme installée et configurée</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Tests unitaires et d'intégration</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Rapports de tests</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Validation</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Matrice de traçabilité exigences et tests</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2F4F7"/>
                    </a:solidFill>
                  </a:tcPr>
                </a:tc>
              </a:tr>
              <a:tr h="571500">
                <a:tc>
                  <a:txBody>
                    <a:bodyPr anchor="t" rtlCol="false"/>
                    <a:lstStyle/>
                    <a:p>
                      <a:pPr algn="l">
                        <a:lnSpc>
                          <a:spcPts val="2070"/>
                        </a:lnSpc>
                        <a:defRPr/>
                      </a:pPr>
                      <a:r>
                        <a:rPr lang="en-US" sz="1725">
                          <a:solidFill>
                            <a:srgbClr val="1F3864"/>
                          </a:solidFill>
                          <a:latin typeface="Calibri (MS)"/>
                          <a:ea typeface="Calibri (MS)"/>
                          <a:cs typeface="Calibri (MS)"/>
                          <a:sym typeface="Calibri (MS)"/>
                        </a:rPr>
                        <a:t>Recette</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62626"/>
                          </a:solidFill>
                          <a:latin typeface="Calibri (MS)"/>
                          <a:ea typeface="Calibri (MS)"/>
                          <a:cs typeface="Calibri (MS)"/>
                          <a:sym typeface="Calibri (MS)"/>
                        </a:rPr>
                        <a:t>Procès-verbal de recette signé</a:t>
                      </a:r>
                      <a:endParaRPr lang="en-US" sz="1100"/>
                    </a:p>
                  </a:txBody>
                  <a:tcPr marL="82296" marR="82296" marT="82296" marB="82296" anchor="ctr">
                    <a:lnL cmpd="sng" algn="ctr" cap="flat" w="12700">
                      <a:solidFill>
                        <a:srgbClr val="C9CFD6"/>
                      </a:solidFill>
                      <a:prstDash val="solid"/>
                      <a:round/>
                      <a:headEnd type="none" w="med" len="med"/>
                      <a:tailEnd type="none" w="med" len="med"/>
                    </a:lnL>
                    <a:lnR cmpd="sng" algn="ctr" cap="flat" w="12700">
                      <a:solidFill>
                        <a:srgbClr val="C9CFD6"/>
                      </a:solidFill>
                      <a:prstDash val="solid"/>
                      <a:round/>
                      <a:headEnd type="none" w="med" len="med"/>
                      <a:tailEnd type="none" w="med" len="med"/>
                    </a:lnR>
                    <a:lnT cmpd="sng" algn="ctr" cap="flat" w="12700">
                      <a:solidFill>
                        <a:srgbClr val="C9CFD6"/>
                      </a:solidFill>
                      <a:prstDash val="solid"/>
                      <a:round/>
                      <a:headEnd type="none" w="med" len="med"/>
                      <a:tailEnd type="none" w="med" len="med"/>
                    </a:lnT>
                    <a:lnB cmpd="sng" algn="ctr" cap="flat" w="12700">
                      <a:solidFill>
                        <a:srgbClr val="C9CFD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440" y="685800"/>
            <a:ext cx="15773400" cy="411480"/>
            <a:chOff x="0" y="0"/>
            <a:chExt cx="21031200" cy="548640"/>
          </a:xfrm>
        </p:grpSpPr>
        <p:sp>
          <p:nvSpPr>
            <p:cNvPr name="Freeform 3" id="3"/>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4" id="4"/>
            <p:cNvSpPr txBox="true"/>
            <p:nvPr/>
          </p:nvSpPr>
          <p:spPr>
            <a:xfrm>
              <a:off x="0" y="-38100"/>
              <a:ext cx="21031200" cy="586740"/>
            </a:xfrm>
            <a:prstGeom prst="rect">
              <a:avLst/>
            </a:prstGeom>
          </p:spPr>
          <p:txBody>
            <a:bodyPr anchor="ctr" rtlCol="false" tIns="0" lIns="0" bIns="0" rIns="0"/>
            <a:lstStyle/>
            <a:p>
              <a:pPr algn="l">
                <a:lnSpc>
                  <a:spcPts val="2070"/>
                </a:lnSpc>
              </a:pPr>
              <a:r>
                <a:rPr lang="en-US" sz="1725" spc="239">
                  <a:solidFill>
                    <a:srgbClr val="44546A"/>
                  </a:solidFill>
                  <a:latin typeface="Calibri (MS)"/>
                  <a:ea typeface="Calibri (MS)"/>
                  <a:cs typeface="Calibri (MS)"/>
                  <a:sym typeface="Calibri (MS)"/>
                </a:rPr>
                <a:t>LA QUESTION QUI SE POSE</a:t>
              </a:r>
            </a:p>
          </p:txBody>
        </p:sp>
      </p:grpSp>
      <p:grpSp>
        <p:nvGrpSpPr>
          <p:cNvPr name="Group 5" id="5"/>
          <p:cNvGrpSpPr/>
          <p:nvPr/>
        </p:nvGrpSpPr>
        <p:grpSpPr>
          <a:xfrm rot="0">
            <a:off x="123444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F3864"/>
                  </a:solidFill>
                  <a:latin typeface="Cambria Bold"/>
                  <a:ea typeface="Cambria Bold"/>
                  <a:cs typeface="Cambria Bold"/>
                  <a:sym typeface="Cambria Bold"/>
                </a:rPr>
                <a:t>Pourquoi pas une méthode agile ?</a:t>
              </a:r>
            </a:p>
          </p:txBody>
        </p:sp>
      </p:grpSp>
      <p:grpSp>
        <p:nvGrpSpPr>
          <p:cNvPr name="Group 8" id="8"/>
          <p:cNvGrpSpPr/>
          <p:nvPr/>
        </p:nvGrpSpPr>
        <p:grpSpPr>
          <a:xfrm rot="0">
            <a:off x="1224915" y="2733675"/>
            <a:ext cx="15792450" cy="1733550"/>
            <a:chOff x="0" y="0"/>
            <a:chExt cx="21056600" cy="2311400"/>
          </a:xfrm>
        </p:grpSpPr>
        <p:sp>
          <p:nvSpPr>
            <p:cNvPr name="Freeform 9" id="9"/>
            <p:cNvSpPr/>
            <p:nvPr/>
          </p:nvSpPr>
          <p:spPr>
            <a:xfrm flipH="false" flipV="false" rot="0">
              <a:off x="0" y="0"/>
              <a:ext cx="21056600" cy="2311400"/>
            </a:xfrm>
            <a:custGeom>
              <a:avLst/>
              <a:gdLst/>
              <a:ahLst/>
              <a:cxnLst/>
              <a:rect r="r" b="b" t="t" l="l"/>
              <a:pathLst>
                <a:path h="2311400" w="21056600">
                  <a:moveTo>
                    <a:pt x="0" y="0"/>
                  </a:moveTo>
                  <a:lnTo>
                    <a:pt x="21056600" y="0"/>
                  </a:lnTo>
                  <a:lnTo>
                    <a:pt x="21056600" y="2311400"/>
                  </a:lnTo>
                  <a:lnTo>
                    <a:pt x="0" y="2311400"/>
                  </a:lnTo>
                  <a:close/>
                </a:path>
              </a:pathLst>
            </a:custGeom>
            <a:solidFill>
              <a:srgbClr val="F2F4F7"/>
            </a:solidFill>
            <a:ln w="19050" cap="sq">
              <a:solidFill>
                <a:srgbClr val="C9CFD6"/>
              </a:solidFill>
              <a:prstDash val="solid"/>
              <a:miter/>
            </a:ln>
          </p:spPr>
        </p:sp>
      </p:grpSp>
      <p:grpSp>
        <p:nvGrpSpPr>
          <p:cNvPr name="Group 10" id="10"/>
          <p:cNvGrpSpPr/>
          <p:nvPr/>
        </p:nvGrpSpPr>
        <p:grpSpPr>
          <a:xfrm rot="0">
            <a:off x="1645920" y="3017520"/>
            <a:ext cx="5760720" cy="617220"/>
            <a:chOff x="0" y="0"/>
            <a:chExt cx="7680960" cy="822960"/>
          </a:xfrm>
        </p:grpSpPr>
        <p:sp>
          <p:nvSpPr>
            <p:cNvPr name="Freeform 11" id="11"/>
            <p:cNvSpPr/>
            <p:nvPr/>
          </p:nvSpPr>
          <p:spPr>
            <a:xfrm flipH="false" flipV="false" rot="0">
              <a:off x="0" y="0"/>
              <a:ext cx="7680960" cy="822960"/>
            </a:xfrm>
            <a:custGeom>
              <a:avLst/>
              <a:gdLst/>
              <a:ahLst/>
              <a:cxnLst/>
              <a:rect r="r" b="b" t="t" l="l"/>
              <a:pathLst>
                <a:path h="822960" w="7680960">
                  <a:moveTo>
                    <a:pt x="0" y="0"/>
                  </a:moveTo>
                  <a:lnTo>
                    <a:pt x="7680960" y="0"/>
                  </a:lnTo>
                  <a:lnTo>
                    <a:pt x="7680960" y="822960"/>
                  </a:lnTo>
                  <a:lnTo>
                    <a:pt x="0" y="822960"/>
                  </a:lnTo>
                  <a:close/>
                </a:path>
              </a:pathLst>
            </a:custGeom>
            <a:blipFill>
              <a:blip r:embed="rId3">
                <a:alphaModFix amt="0"/>
              </a:blip>
              <a:stretch>
                <a:fillRect l="0" t="-131860" r="0" b="-131860"/>
              </a:stretch>
            </a:blipFill>
          </p:spPr>
        </p:sp>
        <p:sp>
          <p:nvSpPr>
            <p:cNvPr name="TextBox 12" id="12"/>
            <p:cNvSpPr txBox="true"/>
            <p:nvPr/>
          </p:nvSpPr>
          <p:spPr>
            <a:xfrm>
              <a:off x="0" y="-19050"/>
              <a:ext cx="7680960" cy="842010"/>
            </a:xfrm>
            <a:prstGeom prst="rect">
              <a:avLst/>
            </a:prstGeom>
          </p:spPr>
          <p:txBody>
            <a:bodyPr anchor="ctr" rtlCol="false" tIns="0" lIns="0" bIns="0" rIns="0"/>
            <a:lstStyle/>
            <a:p>
              <a:pPr algn="l">
                <a:lnSpc>
                  <a:spcPts val="2610"/>
                </a:lnSpc>
              </a:pPr>
              <a:r>
                <a:rPr lang="en-US" sz="2175" b="true">
                  <a:solidFill>
                    <a:srgbClr val="1F3864"/>
                  </a:solidFill>
                  <a:latin typeface="Cambria Bold"/>
                  <a:ea typeface="Cambria Bold"/>
                  <a:cs typeface="Cambria Bold"/>
                  <a:sym typeface="Cambria Bold"/>
                </a:rPr>
                <a:t>Le besoin est stable</a:t>
              </a:r>
            </a:p>
          </p:txBody>
        </p:sp>
      </p:grpSp>
      <p:sp>
        <p:nvSpPr>
          <p:cNvPr name="TextBox 13" id="13"/>
          <p:cNvSpPr txBox="true"/>
          <p:nvPr/>
        </p:nvSpPr>
        <p:spPr>
          <a:xfrm rot="0">
            <a:off x="1645920" y="3581781"/>
            <a:ext cx="14950440" cy="75247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Le client sait précisément ce qu'il veut. L'agilité sert surtout à absorber des changements fréquents de besoin, ce qui n'est pas notre cas.</a:t>
            </a:r>
          </a:p>
        </p:txBody>
      </p:sp>
      <p:grpSp>
        <p:nvGrpSpPr>
          <p:cNvPr name="Group 14" id="14"/>
          <p:cNvGrpSpPr/>
          <p:nvPr/>
        </p:nvGrpSpPr>
        <p:grpSpPr>
          <a:xfrm rot="0">
            <a:off x="1224915" y="4722495"/>
            <a:ext cx="15792450" cy="1733550"/>
            <a:chOff x="0" y="0"/>
            <a:chExt cx="21056600" cy="2311400"/>
          </a:xfrm>
        </p:grpSpPr>
        <p:sp>
          <p:nvSpPr>
            <p:cNvPr name="Freeform 15" id="15"/>
            <p:cNvSpPr/>
            <p:nvPr/>
          </p:nvSpPr>
          <p:spPr>
            <a:xfrm flipH="false" flipV="false" rot="0">
              <a:off x="0" y="0"/>
              <a:ext cx="21056600" cy="2311400"/>
            </a:xfrm>
            <a:custGeom>
              <a:avLst/>
              <a:gdLst/>
              <a:ahLst/>
              <a:cxnLst/>
              <a:rect r="r" b="b" t="t" l="l"/>
              <a:pathLst>
                <a:path h="2311400" w="21056600">
                  <a:moveTo>
                    <a:pt x="0" y="0"/>
                  </a:moveTo>
                  <a:lnTo>
                    <a:pt x="21056600" y="0"/>
                  </a:lnTo>
                  <a:lnTo>
                    <a:pt x="21056600" y="2311400"/>
                  </a:lnTo>
                  <a:lnTo>
                    <a:pt x="0" y="2311400"/>
                  </a:lnTo>
                  <a:close/>
                </a:path>
              </a:pathLst>
            </a:custGeom>
            <a:solidFill>
              <a:srgbClr val="FFFFFF"/>
            </a:solidFill>
            <a:ln w="19050" cap="sq">
              <a:solidFill>
                <a:srgbClr val="C9CFD6"/>
              </a:solidFill>
              <a:prstDash val="solid"/>
              <a:miter/>
            </a:ln>
          </p:spPr>
        </p:sp>
      </p:grpSp>
      <p:grpSp>
        <p:nvGrpSpPr>
          <p:cNvPr name="Group 16" id="16"/>
          <p:cNvGrpSpPr/>
          <p:nvPr/>
        </p:nvGrpSpPr>
        <p:grpSpPr>
          <a:xfrm rot="0">
            <a:off x="1645920" y="5006340"/>
            <a:ext cx="5760720" cy="617220"/>
            <a:chOff x="0" y="0"/>
            <a:chExt cx="7680960" cy="822960"/>
          </a:xfrm>
        </p:grpSpPr>
        <p:sp>
          <p:nvSpPr>
            <p:cNvPr name="Freeform 17" id="17"/>
            <p:cNvSpPr/>
            <p:nvPr/>
          </p:nvSpPr>
          <p:spPr>
            <a:xfrm flipH="false" flipV="false" rot="0">
              <a:off x="0" y="0"/>
              <a:ext cx="7680960" cy="822960"/>
            </a:xfrm>
            <a:custGeom>
              <a:avLst/>
              <a:gdLst/>
              <a:ahLst/>
              <a:cxnLst/>
              <a:rect r="r" b="b" t="t" l="l"/>
              <a:pathLst>
                <a:path h="822960" w="7680960">
                  <a:moveTo>
                    <a:pt x="0" y="0"/>
                  </a:moveTo>
                  <a:lnTo>
                    <a:pt x="7680960" y="0"/>
                  </a:lnTo>
                  <a:lnTo>
                    <a:pt x="7680960" y="822960"/>
                  </a:lnTo>
                  <a:lnTo>
                    <a:pt x="0" y="822960"/>
                  </a:lnTo>
                  <a:close/>
                </a:path>
              </a:pathLst>
            </a:custGeom>
            <a:blipFill>
              <a:blip r:embed="rId3">
                <a:alphaModFix amt="0"/>
              </a:blip>
              <a:stretch>
                <a:fillRect l="0" t="-131860" r="0" b="-131860"/>
              </a:stretch>
            </a:blipFill>
          </p:spPr>
        </p:sp>
        <p:sp>
          <p:nvSpPr>
            <p:cNvPr name="TextBox 18" id="18"/>
            <p:cNvSpPr txBox="true"/>
            <p:nvPr/>
          </p:nvSpPr>
          <p:spPr>
            <a:xfrm>
              <a:off x="0" y="-19050"/>
              <a:ext cx="7680960" cy="842010"/>
            </a:xfrm>
            <a:prstGeom prst="rect">
              <a:avLst/>
            </a:prstGeom>
          </p:spPr>
          <p:txBody>
            <a:bodyPr anchor="ctr" rtlCol="false" tIns="0" lIns="0" bIns="0" rIns="0"/>
            <a:lstStyle/>
            <a:p>
              <a:pPr algn="l">
                <a:lnSpc>
                  <a:spcPts val="2610"/>
                </a:lnSpc>
              </a:pPr>
              <a:r>
                <a:rPr lang="en-US" sz="2175" b="true">
                  <a:solidFill>
                    <a:srgbClr val="1F3864"/>
                  </a:solidFill>
                  <a:latin typeface="Cambria Bold"/>
                  <a:ea typeface="Cambria Bold"/>
                  <a:cs typeface="Cambria Bold"/>
                  <a:sym typeface="Cambria Bold"/>
                </a:rPr>
                <a:t>Le matériel ne se remanie pas</a:t>
              </a:r>
            </a:p>
          </p:txBody>
        </p:sp>
      </p:grpSp>
      <p:sp>
        <p:nvSpPr>
          <p:cNvPr name="TextBox 19" id="19"/>
          <p:cNvSpPr txBox="true"/>
          <p:nvPr/>
        </p:nvSpPr>
        <p:spPr>
          <a:xfrm rot="0">
            <a:off x="1645920" y="5570601"/>
            <a:ext cx="14950440" cy="75247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Un câblage ou un choix de composant ne se corrige pas aussi facilement qu'une ligne de code. Figer la conception tôt réduit le risque.</a:t>
            </a:r>
          </a:p>
        </p:txBody>
      </p:sp>
      <p:grpSp>
        <p:nvGrpSpPr>
          <p:cNvPr name="Group 20" id="20"/>
          <p:cNvGrpSpPr/>
          <p:nvPr/>
        </p:nvGrpSpPr>
        <p:grpSpPr>
          <a:xfrm rot="0">
            <a:off x="1224915" y="6711315"/>
            <a:ext cx="15792450" cy="1733550"/>
            <a:chOff x="0" y="0"/>
            <a:chExt cx="21056600" cy="2311400"/>
          </a:xfrm>
        </p:grpSpPr>
        <p:sp>
          <p:nvSpPr>
            <p:cNvPr name="Freeform 21" id="21"/>
            <p:cNvSpPr/>
            <p:nvPr/>
          </p:nvSpPr>
          <p:spPr>
            <a:xfrm flipH="false" flipV="false" rot="0">
              <a:off x="0" y="0"/>
              <a:ext cx="21056600" cy="2311400"/>
            </a:xfrm>
            <a:custGeom>
              <a:avLst/>
              <a:gdLst/>
              <a:ahLst/>
              <a:cxnLst/>
              <a:rect r="r" b="b" t="t" l="l"/>
              <a:pathLst>
                <a:path h="2311400" w="21056600">
                  <a:moveTo>
                    <a:pt x="0" y="0"/>
                  </a:moveTo>
                  <a:lnTo>
                    <a:pt x="21056600" y="0"/>
                  </a:lnTo>
                  <a:lnTo>
                    <a:pt x="21056600" y="2311400"/>
                  </a:lnTo>
                  <a:lnTo>
                    <a:pt x="0" y="2311400"/>
                  </a:lnTo>
                  <a:close/>
                </a:path>
              </a:pathLst>
            </a:custGeom>
            <a:solidFill>
              <a:srgbClr val="F2F4F7"/>
            </a:solidFill>
            <a:ln w="19050" cap="sq">
              <a:solidFill>
                <a:srgbClr val="C9CFD6"/>
              </a:solidFill>
              <a:prstDash val="solid"/>
              <a:miter/>
            </a:ln>
          </p:spPr>
        </p:sp>
      </p:grpSp>
      <p:grpSp>
        <p:nvGrpSpPr>
          <p:cNvPr name="Group 22" id="22"/>
          <p:cNvGrpSpPr/>
          <p:nvPr/>
        </p:nvGrpSpPr>
        <p:grpSpPr>
          <a:xfrm rot="0">
            <a:off x="1645920" y="6995160"/>
            <a:ext cx="5760720" cy="617220"/>
            <a:chOff x="0" y="0"/>
            <a:chExt cx="7680960" cy="822960"/>
          </a:xfrm>
        </p:grpSpPr>
        <p:sp>
          <p:nvSpPr>
            <p:cNvPr name="Freeform 23" id="23"/>
            <p:cNvSpPr/>
            <p:nvPr/>
          </p:nvSpPr>
          <p:spPr>
            <a:xfrm flipH="false" flipV="false" rot="0">
              <a:off x="0" y="0"/>
              <a:ext cx="7680960" cy="822960"/>
            </a:xfrm>
            <a:custGeom>
              <a:avLst/>
              <a:gdLst/>
              <a:ahLst/>
              <a:cxnLst/>
              <a:rect r="r" b="b" t="t" l="l"/>
              <a:pathLst>
                <a:path h="822960" w="7680960">
                  <a:moveTo>
                    <a:pt x="0" y="0"/>
                  </a:moveTo>
                  <a:lnTo>
                    <a:pt x="7680960" y="0"/>
                  </a:lnTo>
                  <a:lnTo>
                    <a:pt x="7680960" y="822960"/>
                  </a:lnTo>
                  <a:lnTo>
                    <a:pt x="0" y="822960"/>
                  </a:lnTo>
                  <a:close/>
                </a:path>
              </a:pathLst>
            </a:custGeom>
            <a:blipFill>
              <a:blip r:embed="rId3">
                <a:alphaModFix amt="0"/>
              </a:blip>
              <a:stretch>
                <a:fillRect l="0" t="-131860" r="0" b="-131860"/>
              </a:stretch>
            </a:blipFill>
          </p:spPr>
        </p:sp>
        <p:sp>
          <p:nvSpPr>
            <p:cNvPr name="TextBox 24" id="24"/>
            <p:cNvSpPr txBox="true"/>
            <p:nvPr/>
          </p:nvSpPr>
          <p:spPr>
            <a:xfrm>
              <a:off x="0" y="-19050"/>
              <a:ext cx="7680960" cy="842010"/>
            </a:xfrm>
            <a:prstGeom prst="rect">
              <a:avLst/>
            </a:prstGeom>
          </p:spPr>
          <p:txBody>
            <a:bodyPr anchor="ctr" rtlCol="false" tIns="0" lIns="0" bIns="0" rIns="0"/>
            <a:lstStyle/>
            <a:p>
              <a:pPr algn="l">
                <a:lnSpc>
                  <a:spcPts val="2610"/>
                </a:lnSpc>
              </a:pPr>
              <a:r>
                <a:rPr lang="en-US" sz="2175" b="true">
                  <a:solidFill>
                    <a:srgbClr val="1F3864"/>
                  </a:solidFill>
                  <a:latin typeface="Cambria Bold"/>
                  <a:ea typeface="Cambria Bold"/>
                  <a:cs typeface="Cambria Bold"/>
                  <a:sym typeface="Cambria Bold"/>
                </a:rPr>
                <a:t>La sécurité impose du formel</a:t>
              </a:r>
            </a:p>
          </p:txBody>
        </p:sp>
      </p:grpSp>
      <p:sp>
        <p:nvSpPr>
          <p:cNvPr name="TextBox 25" id="25"/>
          <p:cNvSpPr txBox="true"/>
          <p:nvPr/>
        </p:nvSpPr>
        <p:spPr>
          <a:xfrm rot="0">
            <a:off x="1645920" y="7559421"/>
            <a:ext cx="14950440" cy="752475"/>
          </a:xfrm>
          <a:prstGeom prst="rect">
            <a:avLst/>
          </a:prstGeom>
        </p:spPr>
        <p:txBody>
          <a:bodyPr anchor="t" rtlCol="false" tIns="0" lIns="0" bIns="0" rIns="0">
            <a:spAutoFit/>
          </a:bodyPr>
          <a:lstStyle/>
          <a:p>
            <a:pPr algn="l">
              <a:lnSpc>
                <a:spcPts val="2399"/>
              </a:lnSpc>
            </a:pPr>
            <a:r>
              <a:rPr lang="en-US" sz="1725">
                <a:solidFill>
                  <a:srgbClr val="262626"/>
                </a:solidFill>
                <a:latin typeface="Calibri (MS)"/>
                <a:ea typeface="Calibri (MS)"/>
                <a:cs typeface="Calibri (MS)"/>
                <a:sym typeface="Calibri (MS)"/>
              </a:rPr>
              <a:t>Un système qui commande un accès au domicile demande une validation explicite à chaque étape, pas des itérations rapides.</a:t>
            </a:r>
          </a:p>
        </p:txBody>
      </p:sp>
      <p:grpSp>
        <p:nvGrpSpPr>
          <p:cNvPr name="Group 26" id="26"/>
          <p:cNvGrpSpPr/>
          <p:nvPr/>
        </p:nvGrpSpPr>
        <p:grpSpPr>
          <a:xfrm rot="0">
            <a:off x="1234440" y="9436608"/>
            <a:ext cx="15773400" cy="411480"/>
            <a:chOff x="0" y="0"/>
            <a:chExt cx="21031200" cy="548640"/>
          </a:xfrm>
        </p:grpSpPr>
        <p:sp>
          <p:nvSpPr>
            <p:cNvPr name="Freeform 27" id="27"/>
            <p:cNvSpPr/>
            <p:nvPr/>
          </p:nvSpPr>
          <p:spPr>
            <a:xfrm flipH="false" flipV="false" rot="0">
              <a:off x="0" y="0"/>
              <a:ext cx="21031200" cy="548640"/>
            </a:xfrm>
            <a:custGeom>
              <a:avLst/>
              <a:gdLst/>
              <a:ahLst/>
              <a:cxnLst/>
              <a:rect r="r" b="b" t="t" l="l"/>
              <a:pathLst>
                <a:path h="548640" w="21031200">
                  <a:moveTo>
                    <a:pt x="0" y="0"/>
                  </a:moveTo>
                  <a:lnTo>
                    <a:pt x="21031200" y="0"/>
                  </a:lnTo>
                  <a:lnTo>
                    <a:pt x="21031200" y="548640"/>
                  </a:lnTo>
                  <a:lnTo>
                    <a:pt x="0" y="548640"/>
                  </a:lnTo>
                  <a:close/>
                </a:path>
              </a:pathLst>
            </a:custGeom>
            <a:blipFill>
              <a:blip r:embed="rId3">
                <a:alphaModFix amt="0"/>
              </a:blip>
              <a:stretch>
                <a:fillRect l="0" t="-696926" r="0" b="-696926"/>
              </a:stretch>
            </a:blipFill>
          </p:spPr>
        </p:sp>
        <p:sp>
          <p:nvSpPr>
            <p:cNvPr name="TextBox 28" id="28"/>
            <p:cNvSpPr txBox="true"/>
            <p:nvPr/>
          </p:nvSpPr>
          <p:spPr>
            <a:xfrm>
              <a:off x="0" y="-38100"/>
              <a:ext cx="21031200" cy="586740"/>
            </a:xfrm>
            <a:prstGeom prst="rect">
              <a:avLst/>
            </a:prstGeom>
          </p:spPr>
          <p:txBody>
            <a:bodyPr anchor="ctr" rtlCol="false" tIns="0" lIns="0" bIns="0" rIns="0"/>
            <a:lstStyle/>
            <a:p>
              <a:pPr algn="l">
                <a:lnSpc>
                  <a:spcPts val="1800"/>
                </a:lnSpc>
              </a:pPr>
              <a:r>
                <a:rPr lang="en-US" sz="1500" i="true">
                  <a:solidFill>
                    <a:srgbClr val="7A8595"/>
                  </a:solidFill>
                  <a:latin typeface="Calibri (MS) Italics"/>
                  <a:ea typeface="Calibri (MS) Italics"/>
                  <a:cs typeface="Calibri (MS) Italics"/>
                  <a:sym typeface="Calibri (MS) Italics"/>
                </a:rPr>
                <a:t>Le Cycle en V n'est pas un choix par défaut : il est justifié par les caractéristiques de ce projet.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F3864"/>
        </a:solidFill>
      </p:bgPr>
    </p:bg>
    <p:spTree>
      <p:nvGrpSpPr>
        <p:cNvPr id="1" name=""/>
        <p:cNvGrpSpPr/>
        <p:nvPr/>
      </p:nvGrpSpPr>
      <p:grpSpPr>
        <a:xfrm>
          <a:off x="0" y="0"/>
          <a:ext cx="0" cy="0"/>
          <a:chOff x="0" y="0"/>
          <a:chExt cx="0" cy="0"/>
        </a:xfrm>
      </p:grpSpPr>
      <p:grpSp>
        <p:nvGrpSpPr>
          <p:cNvPr name="Group 2" id="2"/>
          <p:cNvGrpSpPr/>
          <p:nvPr/>
        </p:nvGrpSpPr>
        <p:grpSpPr>
          <a:xfrm rot="0">
            <a:off x="1234440" y="1851660"/>
            <a:ext cx="15773400" cy="480060"/>
            <a:chOff x="0" y="0"/>
            <a:chExt cx="21031200" cy="640080"/>
          </a:xfrm>
        </p:grpSpPr>
        <p:sp>
          <p:nvSpPr>
            <p:cNvPr name="Freeform 3" id="3"/>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4" id="4"/>
            <p:cNvSpPr txBox="true"/>
            <p:nvPr/>
          </p:nvSpPr>
          <p:spPr>
            <a:xfrm>
              <a:off x="0" y="-38100"/>
              <a:ext cx="21031200" cy="678180"/>
            </a:xfrm>
            <a:prstGeom prst="rect">
              <a:avLst/>
            </a:prstGeom>
          </p:spPr>
          <p:txBody>
            <a:bodyPr anchor="ctr" rtlCol="false" tIns="0" lIns="0" bIns="0" rIns="0"/>
            <a:lstStyle/>
            <a:p>
              <a:pPr algn="l">
                <a:lnSpc>
                  <a:spcPts val="2250"/>
                </a:lnSpc>
              </a:pPr>
              <a:r>
                <a:rPr lang="en-US" sz="1875" spc="375">
                  <a:solidFill>
                    <a:srgbClr val="AEBBD4"/>
                  </a:solidFill>
                  <a:latin typeface="Calibri (MS)"/>
                  <a:ea typeface="Calibri (MS)"/>
                  <a:cs typeface="Calibri (MS)"/>
                  <a:sym typeface="Calibri (MS)"/>
                </a:rPr>
                <a:t>EN RÉSUMÉ</a:t>
              </a:r>
            </a:p>
          </p:txBody>
        </p:sp>
      </p:grpSp>
      <p:grpSp>
        <p:nvGrpSpPr>
          <p:cNvPr name="Group 5" id="5"/>
          <p:cNvGrpSpPr/>
          <p:nvPr/>
        </p:nvGrpSpPr>
        <p:grpSpPr>
          <a:xfrm rot="0">
            <a:off x="1234440" y="2468880"/>
            <a:ext cx="14950440" cy="1783080"/>
            <a:chOff x="0" y="0"/>
            <a:chExt cx="19933920" cy="2377440"/>
          </a:xfrm>
        </p:grpSpPr>
        <p:sp>
          <p:nvSpPr>
            <p:cNvPr name="Freeform 6" id="6"/>
            <p:cNvSpPr/>
            <p:nvPr/>
          </p:nvSpPr>
          <p:spPr>
            <a:xfrm flipH="false" flipV="false" rot="0">
              <a:off x="0" y="0"/>
              <a:ext cx="19933920" cy="2377440"/>
            </a:xfrm>
            <a:custGeom>
              <a:avLst/>
              <a:gdLst/>
              <a:ahLst/>
              <a:cxnLst/>
              <a:rect r="r" b="b" t="t" l="l"/>
              <a:pathLst>
                <a:path h="2377440" w="19933920">
                  <a:moveTo>
                    <a:pt x="0" y="0"/>
                  </a:moveTo>
                  <a:lnTo>
                    <a:pt x="19933920" y="0"/>
                  </a:lnTo>
                  <a:lnTo>
                    <a:pt x="19933920" y="2377440"/>
                  </a:lnTo>
                  <a:lnTo>
                    <a:pt x="0" y="2377440"/>
                  </a:lnTo>
                  <a:close/>
                </a:path>
              </a:pathLst>
            </a:custGeom>
            <a:blipFill>
              <a:blip r:embed="rId3">
                <a:alphaModFix amt="0"/>
              </a:blip>
              <a:stretch>
                <a:fillRect l="0" t="-113374" r="0" b="-113374"/>
              </a:stretch>
            </a:blipFill>
          </p:spPr>
        </p:sp>
        <p:sp>
          <p:nvSpPr>
            <p:cNvPr name="TextBox 7" id="7"/>
            <p:cNvSpPr txBox="true"/>
            <p:nvPr/>
          </p:nvSpPr>
          <p:spPr>
            <a:xfrm>
              <a:off x="0" y="-38100"/>
              <a:ext cx="19933920" cy="2415540"/>
            </a:xfrm>
            <a:prstGeom prst="rect">
              <a:avLst/>
            </a:prstGeom>
          </p:spPr>
          <p:txBody>
            <a:bodyPr anchor="ctr" rtlCol="false" tIns="0" lIns="0" bIns="0" rIns="0"/>
            <a:lstStyle/>
            <a:p>
              <a:pPr algn="l">
                <a:lnSpc>
                  <a:spcPts val="6000"/>
                </a:lnSpc>
              </a:pPr>
              <a:r>
                <a:rPr lang="en-US" sz="4800" b="true">
                  <a:solidFill>
                    <a:srgbClr val="FFFFFF"/>
                  </a:solidFill>
                  <a:latin typeface="Cambria Bold"/>
                  <a:ea typeface="Cambria Bold"/>
                  <a:cs typeface="Cambria Bold"/>
                  <a:sym typeface="Cambria Bold"/>
                </a:rPr>
                <a:t>Une méthode qui sécurise le projet et rend son avancement mesurable</a:t>
              </a:r>
            </a:p>
          </p:txBody>
        </p:sp>
      </p:grpSp>
      <p:grpSp>
        <p:nvGrpSpPr>
          <p:cNvPr name="Group 8" id="8"/>
          <p:cNvGrpSpPr/>
          <p:nvPr/>
        </p:nvGrpSpPr>
        <p:grpSpPr>
          <a:xfrm rot="0">
            <a:off x="1224915" y="4859655"/>
            <a:ext cx="4956810" cy="2693670"/>
            <a:chOff x="0" y="0"/>
            <a:chExt cx="6609080" cy="3591560"/>
          </a:xfrm>
        </p:grpSpPr>
        <p:sp>
          <p:nvSpPr>
            <p:cNvPr name="Freeform 9" id="9"/>
            <p:cNvSpPr/>
            <p:nvPr/>
          </p:nvSpPr>
          <p:spPr>
            <a:xfrm flipH="false" flipV="false" rot="0">
              <a:off x="0" y="0"/>
              <a:ext cx="6609080" cy="3591560"/>
            </a:xfrm>
            <a:custGeom>
              <a:avLst/>
              <a:gdLst/>
              <a:ahLst/>
              <a:cxnLst/>
              <a:rect r="r" b="b" t="t" l="l"/>
              <a:pathLst>
                <a:path h="3591560" w="6609080">
                  <a:moveTo>
                    <a:pt x="0" y="0"/>
                  </a:moveTo>
                  <a:lnTo>
                    <a:pt x="6609080" y="0"/>
                  </a:lnTo>
                  <a:lnTo>
                    <a:pt x="6609080" y="3591560"/>
                  </a:lnTo>
                  <a:lnTo>
                    <a:pt x="0" y="3591560"/>
                  </a:lnTo>
                  <a:close/>
                </a:path>
              </a:pathLst>
            </a:custGeom>
            <a:solidFill>
              <a:srgbClr val="2C4A7C"/>
            </a:solidFill>
            <a:ln w="19050" cap="sq">
              <a:solidFill>
                <a:srgbClr val="43608E"/>
              </a:solidFill>
              <a:prstDash val="solid"/>
              <a:miter/>
            </a:ln>
          </p:spPr>
        </p:sp>
      </p:grpSp>
      <p:grpSp>
        <p:nvGrpSpPr>
          <p:cNvPr name="Group 10" id="10"/>
          <p:cNvGrpSpPr/>
          <p:nvPr/>
        </p:nvGrpSpPr>
        <p:grpSpPr>
          <a:xfrm rot="0">
            <a:off x="1645920" y="5239512"/>
            <a:ext cx="4114800" cy="685800"/>
            <a:chOff x="0" y="0"/>
            <a:chExt cx="5486400" cy="914400"/>
          </a:xfrm>
        </p:grpSpPr>
        <p:sp>
          <p:nvSpPr>
            <p:cNvPr name="Freeform 11" id="11"/>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12" id="12"/>
            <p:cNvSpPr txBox="true"/>
            <p:nvPr/>
          </p:nvSpPr>
          <p:spPr>
            <a:xfrm>
              <a:off x="0" y="-19050"/>
              <a:ext cx="5486400" cy="933450"/>
            </a:xfrm>
            <a:prstGeom prst="rect">
              <a:avLst/>
            </a:prstGeom>
          </p:spPr>
          <p:txBody>
            <a:bodyPr anchor="ctr" rtlCol="false" tIns="0" lIns="0" bIns="0" rIns="0"/>
            <a:lstStyle/>
            <a:p>
              <a:pPr algn="l">
                <a:lnSpc>
                  <a:spcPts val="2610"/>
                </a:lnSpc>
              </a:pPr>
              <a:r>
                <a:rPr lang="en-US" sz="2175" b="true">
                  <a:solidFill>
                    <a:srgbClr val="FFFFFF"/>
                  </a:solidFill>
                  <a:latin typeface="Cambria Bold"/>
                  <a:ea typeface="Cambria Bold"/>
                  <a:cs typeface="Cambria Bold"/>
                  <a:sym typeface="Cambria Bold"/>
                </a:rPr>
                <a:t>Chaque étape tracée</a:t>
              </a:r>
            </a:p>
          </p:txBody>
        </p:sp>
      </p:grpSp>
      <p:sp>
        <p:nvSpPr>
          <p:cNvPr name="TextBox 13" id="13"/>
          <p:cNvSpPr txBox="true"/>
          <p:nvPr/>
        </p:nvSpPr>
        <p:spPr>
          <a:xfrm rot="0">
            <a:off x="1645920" y="5899785"/>
            <a:ext cx="4114800" cy="1369695"/>
          </a:xfrm>
          <a:prstGeom prst="rect">
            <a:avLst/>
          </a:prstGeom>
        </p:spPr>
        <p:txBody>
          <a:bodyPr anchor="t" rtlCol="false" tIns="0" lIns="0" bIns="0" rIns="0">
            <a:spAutoFit/>
          </a:bodyPr>
          <a:lstStyle/>
          <a:p>
            <a:pPr algn="l">
              <a:lnSpc>
                <a:spcPts val="2399"/>
              </a:lnSpc>
            </a:pPr>
            <a:r>
              <a:rPr lang="en-US" sz="1725">
                <a:solidFill>
                  <a:srgbClr val="CDD6E6"/>
                </a:solidFill>
                <a:latin typeface="Calibri (MS)"/>
                <a:ea typeface="Calibri (MS)"/>
                <a:cs typeface="Calibri (MS)"/>
                <a:sym typeface="Calibri (MS)"/>
              </a:rPr>
              <a:t>Du besoin initial jusqu'au livrable final, sans zone d'ombre.</a:t>
            </a:r>
          </a:p>
        </p:txBody>
      </p:sp>
      <p:grpSp>
        <p:nvGrpSpPr>
          <p:cNvPr name="Group 14" id="14"/>
          <p:cNvGrpSpPr/>
          <p:nvPr/>
        </p:nvGrpSpPr>
        <p:grpSpPr>
          <a:xfrm rot="0">
            <a:off x="6629019" y="4859655"/>
            <a:ext cx="4956810" cy="2693670"/>
            <a:chOff x="0" y="0"/>
            <a:chExt cx="6609080" cy="3591560"/>
          </a:xfrm>
        </p:grpSpPr>
        <p:sp>
          <p:nvSpPr>
            <p:cNvPr name="Freeform 15" id="15"/>
            <p:cNvSpPr/>
            <p:nvPr/>
          </p:nvSpPr>
          <p:spPr>
            <a:xfrm flipH="false" flipV="false" rot="0">
              <a:off x="0" y="0"/>
              <a:ext cx="6609080" cy="3591560"/>
            </a:xfrm>
            <a:custGeom>
              <a:avLst/>
              <a:gdLst/>
              <a:ahLst/>
              <a:cxnLst/>
              <a:rect r="r" b="b" t="t" l="l"/>
              <a:pathLst>
                <a:path h="3591560" w="6609080">
                  <a:moveTo>
                    <a:pt x="0" y="0"/>
                  </a:moveTo>
                  <a:lnTo>
                    <a:pt x="6609080" y="0"/>
                  </a:lnTo>
                  <a:lnTo>
                    <a:pt x="6609080" y="3591560"/>
                  </a:lnTo>
                  <a:lnTo>
                    <a:pt x="0" y="3591560"/>
                  </a:lnTo>
                  <a:close/>
                </a:path>
              </a:pathLst>
            </a:custGeom>
            <a:solidFill>
              <a:srgbClr val="2C4A7C"/>
            </a:solidFill>
            <a:ln w="19050" cap="sq">
              <a:solidFill>
                <a:srgbClr val="43608E"/>
              </a:solidFill>
              <a:prstDash val="solid"/>
              <a:miter/>
            </a:ln>
          </p:spPr>
        </p:sp>
      </p:grpSp>
      <p:grpSp>
        <p:nvGrpSpPr>
          <p:cNvPr name="Group 16" id="16"/>
          <p:cNvGrpSpPr/>
          <p:nvPr/>
        </p:nvGrpSpPr>
        <p:grpSpPr>
          <a:xfrm rot="0">
            <a:off x="7050024" y="5239512"/>
            <a:ext cx="4114800" cy="685800"/>
            <a:chOff x="0" y="0"/>
            <a:chExt cx="5486400" cy="914400"/>
          </a:xfrm>
        </p:grpSpPr>
        <p:sp>
          <p:nvSpPr>
            <p:cNvPr name="Freeform 17" id="17"/>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18" id="18"/>
            <p:cNvSpPr txBox="true"/>
            <p:nvPr/>
          </p:nvSpPr>
          <p:spPr>
            <a:xfrm>
              <a:off x="0" y="-19050"/>
              <a:ext cx="5486400" cy="933450"/>
            </a:xfrm>
            <a:prstGeom prst="rect">
              <a:avLst/>
            </a:prstGeom>
          </p:spPr>
          <p:txBody>
            <a:bodyPr anchor="ctr" rtlCol="false" tIns="0" lIns="0" bIns="0" rIns="0"/>
            <a:lstStyle/>
            <a:p>
              <a:pPr algn="l">
                <a:lnSpc>
                  <a:spcPts val="2610"/>
                </a:lnSpc>
              </a:pPr>
              <a:r>
                <a:rPr lang="en-US" sz="2175" b="true">
                  <a:solidFill>
                    <a:srgbClr val="FFFFFF"/>
                  </a:solidFill>
                  <a:latin typeface="Cambria Bold"/>
                  <a:ea typeface="Cambria Bold"/>
                  <a:cs typeface="Cambria Bold"/>
                  <a:sym typeface="Cambria Bold"/>
                </a:rPr>
                <a:t>Les risques traités tôt</a:t>
              </a:r>
            </a:p>
          </p:txBody>
        </p:sp>
      </p:grpSp>
      <p:sp>
        <p:nvSpPr>
          <p:cNvPr name="TextBox 19" id="19"/>
          <p:cNvSpPr txBox="true"/>
          <p:nvPr/>
        </p:nvSpPr>
        <p:spPr>
          <a:xfrm rot="0">
            <a:off x="7050024" y="5899785"/>
            <a:ext cx="4114800" cy="1369695"/>
          </a:xfrm>
          <a:prstGeom prst="rect">
            <a:avLst/>
          </a:prstGeom>
        </p:spPr>
        <p:txBody>
          <a:bodyPr anchor="t" rtlCol="false" tIns="0" lIns="0" bIns="0" rIns="0">
            <a:spAutoFit/>
          </a:bodyPr>
          <a:lstStyle/>
          <a:p>
            <a:pPr algn="l">
              <a:lnSpc>
                <a:spcPts val="2399"/>
              </a:lnSpc>
            </a:pPr>
            <a:r>
              <a:rPr lang="en-US" sz="1725">
                <a:solidFill>
                  <a:srgbClr val="CDD6E6"/>
                </a:solidFill>
                <a:latin typeface="Calibri (MS)"/>
                <a:ea typeface="Calibri (MS)"/>
                <a:cs typeface="Calibri (MS)"/>
                <a:sym typeface="Calibri (MS)"/>
              </a:rPr>
              <a:t>La sécurité est figée dès la conception, pas découverte en cours de route.</a:t>
            </a:r>
          </a:p>
        </p:txBody>
      </p:sp>
      <p:grpSp>
        <p:nvGrpSpPr>
          <p:cNvPr name="Group 20" id="20"/>
          <p:cNvGrpSpPr/>
          <p:nvPr/>
        </p:nvGrpSpPr>
        <p:grpSpPr>
          <a:xfrm rot="0">
            <a:off x="12033123" y="4859655"/>
            <a:ext cx="4956810" cy="2693670"/>
            <a:chOff x="0" y="0"/>
            <a:chExt cx="6609080" cy="3591560"/>
          </a:xfrm>
        </p:grpSpPr>
        <p:sp>
          <p:nvSpPr>
            <p:cNvPr name="Freeform 21" id="21"/>
            <p:cNvSpPr/>
            <p:nvPr/>
          </p:nvSpPr>
          <p:spPr>
            <a:xfrm flipH="false" flipV="false" rot="0">
              <a:off x="0" y="0"/>
              <a:ext cx="6609080" cy="3591560"/>
            </a:xfrm>
            <a:custGeom>
              <a:avLst/>
              <a:gdLst/>
              <a:ahLst/>
              <a:cxnLst/>
              <a:rect r="r" b="b" t="t" l="l"/>
              <a:pathLst>
                <a:path h="3591560" w="6609080">
                  <a:moveTo>
                    <a:pt x="0" y="0"/>
                  </a:moveTo>
                  <a:lnTo>
                    <a:pt x="6609080" y="0"/>
                  </a:lnTo>
                  <a:lnTo>
                    <a:pt x="6609080" y="3591560"/>
                  </a:lnTo>
                  <a:lnTo>
                    <a:pt x="0" y="3591560"/>
                  </a:lnTo>
                  <a:close/>
                </a:path>
              </a:pathLst>
            </a:custGeom>
            <a:solidFill>
              <a:srgbClr val="2C4A7C"/>
            </a:solidFill>
            <a:ln w="19050" cap="sq">
              <a:solidFill>
                <a:srgbClr val="43608E"/>
              </a:solidFill>
              <a:prstDash val="solid"/>
              <a:miter/>
            </a:ln>
          </p:spPr>
        </p:sp>
      </p:grpSp>
      <p:grpSp>
        <p:nvGrpSpPr>
          <p:cNvPr name="Group 22" id="22"/>
          <p:cNvGrpSpPr/>
          <p:nvPr/>
        </p:nvGrpSpPr>
        <p:grpSpPr>
          <a:xfrm rot="0">
            <a:off x="12454128" y="5239512"/>
            <a:ext cx="4114800" cy="685800"/>
            <a:chOff x="0" y="0"/>
            <a:chExt cx="5486400" cy="914400"/>
          </a:xfrm>
        </p:grpSpPr>
        <p:sp>
          <p:nvSpPr>
            <p:cNvPr name="Freeform 23" id="23"/>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24" id="24"/>
            <p:cNvSpPr txBox="true"/>
            <p:nvPr/>
          </p:nvSpPr>
          <p:spPr>
            <a:xfrm>
              <a:off x="0" y="-19050"/>
              <a:ext cx="5486400" cy="933450"/>
            </a:xfrm>
            <a:prstGeom prst="rect">
              <a:avLst/>
            </a:prstGeom>
          </p:spPr>
          <p:txBody>
            <a:bodyPr anchor="ctr" rtlCol="false" tIns="0" lIns="0" bIns="0" rIns="0"/>
            <a:lstStyle/>
            <a:p>
              <a:pPr algn="l">
                <a:lnSpc>
                  <a:spcPts val="2610"/>
                </a:lnSpc>
              </a:pPr>
              <a:r>
                <a:rPr lang="en-US" sz="2175" b="true">
                  <a:solidFill>
                    <a:srgbClr val="FFFFFF"/>
                  </a:solidFill>
                  <a:latin typeface="Cambria Bold"/>
                  <a:ea typeface="Cambria Bold"/>
                  <a:cs typeface="Cambria Bold"/>
                  <a:sym typeface="Cambria Bold"/>
                </a:rPr>
                <a:t>Une réception sans ambiguïté</a:t>
              </a:r>
            </a:p>
          </p:txBody>
        </p:sp>
      </p:grpSp>
      <p:sp>
        <p:nvSpPr>
          <p:cNvPr name="TextBox 25" id="25"/>
          <p:cNvSpPr txBox="true"/>
          <p:nvPr/>
        </p:nvSpPr>
        <p:spPr>
          <a:xfrm rot="0">
            <a:off x="12454128" y="5899785"/>
            <a:ext cx="4114800" cy="1369695"/>
          </a:xfrm>
          <a:prstGeom prst="rect">
            <a:avLst/>
          </a:prstGeom>
        </p:spPr>
        <p:txBody>
          <a:bodyPr anchor="t" rtlCol="false" tIns="0" lIns="0" bIns="0" rIns="0">
            <a:spAutoFit/>
          </a:bodyPr>
          <a:lstStyle/>
          <a:p>
            <a:pPr algn="l">
              <a:lnSpc>
                <a:spcPts val="2399"/>
              </a:lnSpc>
            </a:pPr>
            <a:r>
              <a:rPr lang="en-US" sz="1725">
                <a:solidFill>
                  <a:srgbClr val="CDD6E6"/>
                </a:solidFill>
                <a:latin typeface="Calibri (MS)"/>
                <a:ea typeface="Calibri (MS)"/>
                <a:cs typeface="Calibri (MS)"/>
                <a:sym typeface="Calibri (MS)"/>
              </a:rPr>
              <a:t>Les critères d'acceptation sont posés dès le départ et signés à la fin.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DAHVQwfW688</dc:identifier>
  <dcterms:modified xsi:type="dcterms:W3CDTF">2011-08-01T06:04:30Z</dcterms:modified>
  <cp:revision>1</cp:revision>
  <dc:title>entretien_PDG.pptx</dc:title>
</cp:coreProperties>
</file>